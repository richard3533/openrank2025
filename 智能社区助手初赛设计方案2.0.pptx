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21"/>
  </p:notesMasterIdLst>
  <p:sldIdLst>
    <p:sldId id="256" r:id="rId3"/>
    <p:sldId id="257" r:id="rId4"/>
    <p:sldId id="258" r:id="rId5"/>
    <p:sldId id="259" r:id="rId6"/>
    <p:sldId id="260" r:id="rId7"/>
    <p:sldId id="261" r:id="rId8"/>
    <p:sldId id="262" r:id="rId9"/>
    <p:sldId id="263" r:id="rId10"/>
    <p:sldId id="264" r:id="rId11"/>
    <p:sldId id="265" r:id="rId12"/>
    <p:sldId id="267" r:id="rId13"/>
    <p:sldId id="270" r:id="rId14"/>
    <p:sldId id="269" r:id="rId15"/>
    <p:sldId id="268" r:id="rId16"/>
    <p:sldId id="273" r:id="rId17"/>
    <p:sldId id="272" r:id="rId18"/>
    <p:sldId id="271" r:id="rId19"/>
    <p:sldId id="266"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747775"/>
          </p15:clr>
        </p15:guide>
        <p15:guide id="2" pos="384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70C18"/>
    <a:srgbClr val="22E3E5"/>
    <a:srgbClr val="00FFFF"/>
    <a:srgbClr val="0A767F"/>
    <a:srgbClr val="0D9199"/>
    <a:srgbClr val="9ED0F9"/>
    <a:srgbClr val="1F2F42"/>
    <a:srgbClr val="D4D1D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820"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31.12.2025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err="1">
                <a:solidFill>
                  <a:srgbClr val="000000"/>
                </a:solidFill>
              </a:rPr>
              <a:t>大家好，欢迎来到我们的项目展示。今天，我将向大家介绍一款我们自主研发的、面向开源社区的AI驱动工具</a:t>
            </a:r>
            <a:r>
              <a:rPr lang="en-US" sz="1400" b="0" i="0" u="none" strike="noStrike" dirty="0">
                <a:solidFill>
                  <a:srgbClr val="000000"/>
                </a:solidFill>
              </a:rPr>
              <a:t>——</a:t>
            </a:r>
            <a:r>
              <a:rPr lang="en-US" sz="1400" b="0" i="0" u="none" strike="noStrike" dirty="0" err="1">
                <a:solidFill>
                  <a:srgbClr val="000000"/>
                </a:solidFill>
              </a:rPr>
              <a:t>智能社区助手。它旨在成为开源治理与运营的智能赋能者，通过先进的AI技术，为社区管理者提供前所未有的支持</a:t>
            </a:r>
            <a:r>
              <a:rPr lang="en-US" sz="1400" b="0" i="0" u="none" strike="noStrike" dirty="0">
                <a:solidFill>
                  <a:srgbClr val="000000"/>
                </a:solidFill>
              </a:rPr>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让我们来看看本次大赛的背景以及我们项目的定位。开源治理与运营是整个开源生态的基石，它直接关系到社区的活力和项目的未来。然而，许多社区正面临着治理和运营的双重困境。因此，我们的“智能社区助手”应运而生。它不仅仅是一个工具，更是一个AI驱动的赋能平台，我们希望通过整合业界领先的开源工具，为社区治理者提供前所未有的数据洞察和决策支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来深入分析一下当前开源社区在治理与运营中普遍面临的三大核心痛点，并展示我们的智能社区助手是如何一一对应的提供解决方案的。首先，针对‘治理效率低下’的问题，我们通过‘数据整合’来自动化处理重复工作。其次，面对‘运营数据割裂’的挑战，我们利用‘智能决策’系统进行深度分析。最后，为了解决‘新手参与门槛高’的难题，我们推出了‘运营优化’模块，智能推荐合适的任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让我们具体看一下“智能社区助手”的核心功能。我们的工具集“治理数据洞察”、“智能运营决策”、“新手引导系统”和“社区运营报告”于一体。从数据可视化到智能建议，再到自动化报告，我们希望覆盖开源治理与运营的全流程，为社区治理者提供一站式的解决方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项目的核心创新在于“数据驱动”。我们不仅仅是收集数据，更是要让数据成为治理的核心引擎。通过量化治理指标、提供智能建议和评估治理效果，我们构建了一个完整的治理闭环。这背后，是我们对OpenDigger等优质数据源的深度整合，以及AI分析能力的充分应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项目在创新和竞争方面都具备独特的优势。在创新点上，我们首次实现了开源治理的全面数据化，并构建了人机融合的决策模型和运营一体化框架。这些创新使我们在竞争中脱颖而出：我们与OpenDigger形成互补，专注于治理与运营的核心场景，并且我们的工具是开源可扩展的，学习成本极低，能够真正赋能广大的开源社区。</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本页我们来谈谈项目的价值与预期效果。我们的工具将为开源社区治理带来三大核心价值：首先，通过自动化处理重复性问题，</a:t>
            </a:r>
            <a:r>
              <a:rPr lang="en-US" sz="1400" b="1" i="0" u="none" strike="noStrike">
                <a:solidFill>
                  <a:srgbClr val="000000"/>
                </a:solidFill>
              </a:rPr>
              <a:t>显著提升治理效率</a:t>
            </a:r>
            <a:r>
              <a:rPr lang="en-US" sz="1400" b="0" i="0" u="none" strike="noStrike">
                <a:solidFill>
                  <a:srgbClr val="000000"/>
                </a:solidFill>
              </a:rPr>
              <a:t>；其次，基于数据驱动的决策，</a:t>
            </a:r>
            <a:r>
              <a:rPr lang="en-US" sz="1400" b="1" i="0" u="none" strike="noStrike">
                <a:solidFill>
                  <a:srgbClr val="000000"/>
                </a:solidFill>
              </a:rPr>
              <a:t>优化治理策略</a:t>
            </a:r>
            <a:r>
              <a:rPr lang="en-US" sz="1400" b="0" i="0" u="none" strike="noStrike">
                <a:solidFill>
                  <a:srgbClr val="000000"/>
                </a:solidFill>
              </a:rPr>
              <a:t>；最后，通过智能引导，</a:t>
            </a:r>
            <a:r>
              <a:rPr lang="en-US" sz="1400" b="1" i="0" u="none" strike="noStrike">
                <a:solidFill>
                  <a:srgbClr val="000000"/>
                </a:solidFill>
              </a:rPr>
              <a:t>促进社区的健康发展</a:t>
            </a:r>
            <a:r>
              <a:rPr lang="en-US" sz="1400" b="0" i="0" u="none" strike="noStrike">
                <a:solidFill>
                  <a:srgbClr val="000000"/>
                </a:solidFill>
              </a:rPr>
              <a:t>。我们预期，这将带来</a:t>
            </a:r>
            <a:r>
              <a:rPr lang="en-US" sz="1400" b="1" i="0" u="none" strike="noStrike">
                <a:solidFill>
                  <a:srgbClr val="000000"/>
                </a:solidFill>
              </a:rPr>
              <a:t>40%的效率提升</a:t>
            </a:r>
            <a:r>
              <a:rPr lang="en-US" sz="1400" b="0" i="0" u="none" strike="noStrike">
                <a:solidFill>
                  <a:srgbClr val="000000"/>
                </a:solidFill>
              </a:rPr>
              <a:t>和</a:t>
            </a:r>
            <a:r>
              <a:rPr lang="en-US" sz="1400" b="1" i="0" u="none" strike="noStrike">
                <a:solidFill>
                  <a:srgbClr val="000000"/>
                </a:solidFill>
              </a:rPr>
              <a:t>25%的新手流失率降低</a:t>
            </a:r>
            <a:r>
              <a:rPr lang="en-US" sz="1400" b="0" i="0" u="none" strike="noStrike">
                <a:solidFill>
                  <a:srgbClr val="000000"/>
                </a:solidFill>
              </a:rPr>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我们项目的技术架构。我们采用了清晰的分层设计，前端使用Streamlit，后端巧妙地整合了OpenDigger、MaxKB和DeepSeek三大开源工具。我们选择这些工具，是因为它们在各自领域都非常出色，并且能够完美互补，共同支撑起我们“智能社区助手”的核心功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我们详细的实施计划与开源贡献承诺。在实施计划方面，我们将在10周内分四个阶段完成从API调研、知识库构建，到模型训练和功能开发的全部工作。在开源贡献方面，我们承诺代码完全开源，提供详尽的文档，积极拥抱社区协作，并遵循规范的开发流程，确保项目的高质量和可持续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让我们对项目进行一个简单的总结，并展望未来。我们的“智能社区助手”致力于成为开源治理与运营领域的标准工具。展望未来，我们计划扩展更多的治理指标，优化AI模型，并支持更多的平台。我们的愿景，是推动整个开源社区向更高效、更可持续的方向发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E4F71-41A1-CF36-CF3B-F6919C528C50}"/>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0093689A-8E12-3CCF-C566-755C797CED7B}"/>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119F6C13-2BE6-79A7-97DA-7E705E8F3BD7}"/>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18EA663A-C042-BC48-762B-090D8EE5A8A1}"/>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9283838B-5887-BDEE-D4E4-0B9B3F6FC57A}"/>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我们详细的实施计划与开源贡献承诺。在实施计划方面，我们将在10周内分四个阶段完成从API调研、知识库构建，到模型训练和功能开发的全部工作。在开源贡献方面，我们承诺代码完全开源，提供详尽的文档，积极拥抱社区协作，并遵循规范的开发流程，确保项目的高质量和可持续性。</a:t>
            </a:r>
          </a:p>
        </p:txBody>
      </p:sp>
      <p:sp>
        <p:nvSpPr>
          <p:cNvPr id="6" name="Footer Placeholder 5">
            <a:extLst>
              <a:ext uri="{FF2B5EF4-FFF2-40B4-BE49-F238E27FC236}">
                <a16:creationId xmlns:a16="http://schemas.microsoft.com/office/drawing/2014/main" id="{244792AD-AAC3-240C-E1AA-B4BE89FAE02E}"/>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E8BB39ED-CF41-AD9D-159B-B45F560588DC}"/>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7966158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34FE8-FA85-71FB-947A-1C81DE187762}"/>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67268A7D-D7FF-9BD4-C710-850EEBEC0E55}"/>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64AC478C-CDC2-63E9-169E-2D8E52E5CAE4}"/>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95001B9D-8E4C-551E-69C2-50420EFE93C2}"/>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DF0AFB97-55B7-95DB-7AB7-2F1BEF0A83EC}"/>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我们详细的实施计划与开源贡献承诺。在实施计划方面，我们将在10周内分四个阶段完成从API调研、知识库构建，到模型训练和功能开发的全部工作。在开源贡献方面，我们承诺代码完全开源，提供详尽的文档，积极拥抱社区协作，并遵循规范的开发流程，确保项目的高质量和可持续性。</a:t>
            </a:r>
          </a:p>
        </p:txBody>
      </p:sp>
      <p:sp>
        <p:nvSpPr>
          <p:cNvPr id="6" name="Footer Placeholder 5">
            <a:extLst>
              <a:ext uri="{FF2B5EF4-FFF2-40B4-BE49-F238E27FC236}">
                <a16:creationId xmlns:a16="http://schemas.microsoft.com/office/drawing/2014/main" id="{2E703967-8209-0A76-9C71-D14B81DEAB91}"/>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98E14C95-9CA8-4F13-2974-3D18948D8108}"/>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6500620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4FC05-05C7-28E6-72A2-0AC8AFA8B307}"/>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67174A1C-A130-2133-FA2F-BDFFEDDF5A7B}"/>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14D7FB95-C575-AAF9-CE8F-9CE85A01464E}"/>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EB2A81E6-2CA1-D5E0-EEB5-FF4825056B7F}"/>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539C87A5-B0D1-7E5C-3150-BABEB5B97AFB}"/>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我们详细的实施计划与开源贡献承诺。在实施计划方面，我们将在10周内分四个阶段完成从API调研、知识库构建，到模型训练和功能开发的全部工作。在开源贡献方面，我们承诺代码完全开源，提供详尽的文档，积极拥抱社区协作，并遵循规范的开发流程，确保项目的高质量和可持续性。</a:t>
            </a:r>
          </a:p>
        </p:txBody>
      </p:sp>
      <p:sp>
        <p:nvSpPr>
          <p:cNvPr id="6" name="Footer Placeholder 5">
            <a:extLst>
              <a:ext uri="{FF2B5EF4-FFF2-40B4-BE49-F238E27FC236}">
                <a16:creationId xmlns:a16="http://schemas.microsoft.com/office/drawing/2014/main" id="{F11BF819-F746-1B03-5535-3BBDEE22CAFE}"/>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7940918D-81E3-116C-DAAE-785FCD682ADC}"/>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0833949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D51E2-C376-DF90-83AD-E36705BAE9DF}"/>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18327F5B-F3AD-CEC1-F6ED-099E13E3B576}"/>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D9FF3FC8-DD26-1B6B-8CA3-EE44CF3EC933}"/>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96F625CB-DF4B-5335-2A3B-0B60AD633AF2}"/>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E90523EB-AE9F-B191-BA11-7730E8600FFA}"/>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我们详细的实施计划与开源贡献承诺。在实施计划方面，我们将在10周内分四个阶段完成从API调研、知识库构建，到模型训练和功能开发的全部工作。在开源贡献方面，我们承诺代码完全开源，提供详尽的文档，积极拥抱社区协作，并遵循规范的开发流程，确保项目的高质量和可持续性。</a:t>
            </a:r>
          </a:p>
        </p:txBody>
      </p:sp>
      <p:sp>
        <p:nvSpPr>
          <p:cNvPr id="6" name="Footer Placeholder 5">
            <a:extLst>
              <a:ext uri="{FF2B5EF4-FFF2-40B4-BE49-F238E27FC236}">
                <a16:creationId xmlns:a16="http://schemas.microsoft.com/office/drawing/2014/main" id="{6435AEB8-8048-FFB1-BC83-0AD7AC5B7685}"/>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E21397A8-64FF-4D87-0BA7-96236F3478C8}"/>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2156341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13E8F-0B57-0589-8588-8301567F7F88}"/>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F81C3AE2-51DE-2FB0-3A85-D81E7E565970}"/>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29918039-3C5B-2535-02D4-2718F383904E}"/>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568A0D86-A1CD-14DF-A67F-8AF5120E1EAF}"/>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AFFE84E0-C567-AF3D-9508-A56E98C6C1C9}"/>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我们详细的实施计划与开源贡献承诺。在实施计划方面，我们将在10周内分四个阶段完成从API调研、知识库构建，到模型训练和功能开发的全部工作。在开源贡献方面，我们承诺代码完全开源，提供详尽的文档，积极拥抱社区协作，并遵循规范的开发流程，确保项目的高质量和可持续性。</a:t>
            </a:r>
          </a:p>
        </p:txBody>
      </p:sp>
      <p:sp>
        <p:nvSpPr>
          <p:cNvPr id="6" name="Footer Placeholder 5">
            <a:extLst>
              <a:ext uri="{FF2B5EF4-FFF2-40B4-BE49-F238E27FC236}">
                <a16:creationId xmlns:a16="http://schemas.microsoft.com/office/drawing/2014/main" id="{4CF266ED-E538-ECDA-AF2F-26A454051B82}"/>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BF8A9D0C-F307-9EC7-6285-FED09E2307C5}"/>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7666659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F9769-9C5A-DEFD-1296-35E11644F169}"/>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9F98BB9C-AF1D-9C6F-4D62-B18241916C81}"/>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2ECDF96A-8C6F-F7FA-7BC1-795697235DAC}"/>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56F19A29-D5FC-BC67-C768-E6D8D32A9C50}"/>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F73D3B08-5D3D-900D-4C70-E9E062AC6467}"/>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我们详细的实施计划与开源贡献承诺。在实施计划方面，我们将在10周内分四个阶段完成从API调研、知识库构建，到模型训练和功能开发的全部工作。在开源贡献方面，我们承诺代码完全开源，提供详尽的文档，积极拥抱社区协作，并遵循规范的开发流程，确保项目的高质量和可持续性。</a:t>
            </a:r>
          </a:p>
        </p:txBody>
      </p:sp>
      <p:sp>
        <p:nvSpPr>
          <p:cNvPr id="6" name="Footer Placeholder 5">
            <a:extLst>
              <a:ext uri="{FF2B5EF4-FFF2-40B4-BE49-F238E27FC236}">
                <a16:creationId xmlns:a16="http://schemas.microsoft.com/office/drawing/2014/main" id="{A150569C-4F50-70F0-847F-FA90C7A3F09D}"/>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2DD63806-0F68-C1D9-2650-8A9B68A165ED}"/>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3185292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A064A-76DC-26EB-B26D-F61254E752BC}"/>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BB2FF00F-8327-5C76-1311-DB6D4980FB97}"/>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27592B8C-0868-4C9A-D90C-825D45755150}"/>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4DD64376-7E6A-3F29-0115-EEB32B894BC0}"/>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4639F9C9-FB1D-DDA5-8A4A-728415601926}"/>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我们详细的实施计划与开源贡献承诺。在实施计划方面，我们将在10周内分四个阶段完成从API调研、知识库构建，到模型训练和功能开发的全部工作。在开源贡献方面，我们承诺代码完全开源，提供详尽的文档，积极拥抱社区协作，并遵循规范的开发流程，确保项目的高质量和可持续性。</a:t>
            </a:r>
          </a:p>
        </p:txBody>
      </p:sp>
      <p:sp>
        <p:nvSpPr>
          <p:cNvPr id="6" name="Footer Placeholder 5">
            <a:extLst>
              <a:ext uri="{FF2B5EF4-FFF2-40B4-BE49-F238E27FC236}">
                <a16:creationId xmlns:a16="http://schemas.microsoft.com/office/drawing/2014/main" id="{8BC1C119-DBFD-249A-CAF7-D926602BD572}"/>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27A6D001-7307-EEA9-8C46-8BFF671AFE47}"/>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9284236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我的演示到此结束，感谢各位的聆听。我们非常期待能与在座的各位一起，为开源社区的发展贡献力量。谢谢大家！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png"/><Relationship Id="rId7"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2.png"/><Relationship Id="rId5" Type="http://schemas.openxmlformats.org/officeDocument/2006/relationships/image" Target="../media/image8.svg"/><Relationship Id="rId4" Type="http://schemas.openxmlformats.org/officeDocument/2006/relationships/image" Target="../media/image7.png"/><Relationship Id="rId9" Type="http://schemas.openxmlformats.org/officeDocument/2006/relationships/image" Target="../media/image10.svg"/></Relationships>
</file>

<file path=ppt/slides/_rels/slide3.xml.rels><?xml version="1.0" encoding="UTF-8" standalone="yes"?>
<Relationships xmlns="http://schemas.openxmlformats.org/package/2006/relationships"><Relationship Id="rId3" Type="http://schemas.openxmlformats.org/officeDocument/2006/relationships/image" Target="../media/image11.jpeg"/><Relationship Id="rId7" Type="http://schemas.openxmlformats.org/officeDocument/2006/relationships/image" Target="../media/image15.sv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jpeg"/><Relationship Id="rId7" Type="http://schemas.openxmlformats.org/officeDocument/2006/relationships/image" Target="../media/image20.sv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19.png"/><Relationship Id="rId11" Type="http://schemas.openxmlformats.org/officeDocument/2006/relationships/image" Target="../media/image24.svg"/><Relationship Id="rId5" Type="http://schemas.openxmlformats.org/officeDocument/2006/relationships/image" Target="../media/image18.sv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svg"/></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30.svg"/><Relationship Id="rId3" Type="http://schemas.openxmlformats.org/officeDocument/2006/relationships/image" Target="../media/image11.jpeg"/><Relationship Id="rId7" Type="http://schemas.openxmlformats.org/officeDocument/2006/relationships/image" Target="../media/image26.svg"/><Relationship Id="rId12" Type="http://schemas.openxmlformats.org/officeDocument/2006/relationships/image" Target="../media/image29.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25.png"/><Relationship Id="rId11" Type="http://schemas.openxmlformats.org/officeDocument/2006/relationships/image" Target="../media/image28.svg"/><Relationship Id="rId5" Type="http://schemas.openxmlformats.org/officeDocument/2006/relationships/image" Target="../media/image18.svg"/><Relationship Id="rId15" Type="http://schemas.openxmlformats.org/officeDocument/2006/relationships/image" Target="../media/image24.svg"/><Relationship Id="rId10" Type="http://schemas.openxmlformats.org/officeDocument/2006/relationships/image" Target="../media/image27.png"/><Relationship Id="rId4" Type="http://schemas.openxmlformats.org/officeDocument/2006/relationships/image" Target="../media/image17.png"/><Relationship Id="rId9" Type="http://schemas.openxmlformats.org/officeDocument/2006/relationships/image" Target="../media/image8.svg"/><Relationship Id="rId14" Type="http://schemas.openxmlformats.org/officeDocument/2006/relationships/image" Target="../media/image23.png"/></Relationships>
</file>

<file path=ppt/slides/_rels/slide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8" Type="http://schemas.openxmlformats.org/officeDocument/2006/relationships/image" Target="../media/image18.svg"/><Relationship Id="rId13"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17.png"/><Relationship Id="rId12" Type="http://schemas.openxmlformats.org/officeDocument/2006/relationships/image" Target="../media/image36.sv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34.svg"/><Relationship Id="rId11" Type="http://schemas.openxmlformats.org/officeDocument/2006/relationships/image" Target="../media/image35.png"/><Relationship Id="rId5" Type="http://schemas.openxmlformats.org/officeDocument/2006/relationships/image" Target="../media/image33.png"/><Relationship Id="rId10" Type="http://schemas.openxmlformats.org/officeDocument/2006/relationships/image" Target="../media/image5.svg"/><Relationship Id="rId4" Type="http://schemas.microsoft.com/office/2007/relationships/hdphoto" Target="../media/hdphoto2.wdp"/><Relationship Id="rId9" Type="http://schemas.openxmlformats.org/officeDocument/2006/relationships/image" Target="../media/image4.png"/><Relationship Id="rId14" Type="http://schemas.openxmlformats.org/officeDocument/2006/relationships/image" Target="../media/image38.svg"/></Relationships>
</file>

<file path=ppt/slides/_rels/slide8.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44.svg"/><Relationship Id="rId3" Type="http://schemas.openxmlformats.org/officeDocument/2006/relationships/image" Target="../media/image11.jpeg"/><Relationship Id="rId7" Type="http://schemas.openxmlformats.org/officeDocument/2006/relationships/image" Target="../media/image18.svg"/><Relationship Id="rId12" Type="http://schemas.openxmlformats.org/officeDocument/2006/relationships/image" Target="../media/image43.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17.png"/><Relationship Id="rId11" Type="http://schemas.openxmlformats.org/officeDocument/2006/relationships/image" Target="../media/image34.svg"/><Relationship Id="rId5" Type="http://schemas.openxmlformats.org/officeDocument/2006/relationships/image" Target="../media/image40.svg"/><Relationship Id="rId10" Type="http://schemas.openxmlformats.org/officeDocument/2006/relationships/image" Target="../media/image33.png"/><Relationship Id="rId4" Type="http://schemas.openxmlformats.org/officeDocument/2006/relationships/image" Target="../media/image39.png"/><Relationship Id="rId9" Type="http://schemas.openxmlformats.org/officeDocument/2006/relationships/image" Target="../media/image42.svg"/></Relationships>
</file>

<file path=ppt/slides/_rels/slide9.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52.svg"/><Relationship Id="rId3" Type="http://schemas.openxmlformats.org/officeDocument/2006/relationships/image" Target="../media/image16.jpeg"/><Relationship Id="rId7" Type="http://schemas.openxmlformats.org/officeDocument/2006/relationships/image" Target="../media/image48.svg"/><Relationship Id="rId12" Type="http://schemas.openxmlformats.org/officeDocument/2006/relationships/image" Target="../media/image51.pn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47.png"/><Relationship Id="rId11" Type="http://schemas.openxmlformats.org/officeDocument/2006/relationships/image" Target="../media/image50.svg"/><Relationship Id="rId5" Type="http://schemas.openxmlformats.org/officeDocument/2006/relationships/image" Target="../media/image46.svg"/><Relationship Id="rId10" Type="http://schemas.openxmlformats.org/officeDocument/2006/relationships/image" Target="../media/image49.png"/><Relationship Id="rId4" Type="http://schemas.openxmlformats.org/officeDocument/2006/relationships/image" Target="../media/image45.png"/><Relationship Id="rId9" Type="http://schemas.openxmlformats.org/officeDocument/2006/relationships/image" Target="../media/image24.svg"/></Relationships>
</file>

<file path=ppt/slides/_rels/slide10.xml.rels><?xml version="1.0" encoding="UTF-8" standalone="yes"?>
<Relationships xmlns="http://schemas.openxmlformats.org/package/2006/relationships"><Relationship Id="rId8" Type="http://schemas.openxmlformats.org/officeDocument/2006/relationships/image" Target="../media/image55.svg"/><Relationship Id="rId3" Type="http://schemas.openxmlformats.org/officeDocument/2006/relationships/image" Target="../media/image53.png"/><Relationship Id="rId7" Type="http://schemas.openxmlformats.org/officeDocument/2006/relationships/image" Target="../media/image54.pn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20.svg"/><Relationship Id="rId5" Type="http://schemas.openxmlformats.org/officeDocument/2006/relationships/image" Target="../media/image19.png"/><Relationship Id="rId4" Type="http://schemas.microsoft.com/office/2007/relationships/hdphoto" Target="../media/hdphoto3.wdp"/></Relationships>
</file>

<file path=ppt/slides/_rels/slide1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1.xml"/><Relationship Id="rId1" Type="http://schemas.openxmlformats.org/officeDocument/2006/relationships/slideLayout" Target="../slideLayouts/slideLayout12.xml"/><Relationship Id="rId5" Type="http://schemas.openxmlformats.org/officeDocument/2006/relationships/image" Target="../media/image57.png"/><Relationship Id="rId4" Type="http://schemas.openxmlformats.org/officeDocument/2006/relationships/image" Target="../media/image56.png"/></Relationships>
</file>

<file path=ppt/slides/_rels/slide1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2.xml"/><Relationship Id="rId1" Type="http://schemas.openxmlformats.org/officeDocument/2006/relationships/slideLayout" Target="../slideLayouts/slideLayout12.xml"/><Relationship Id="rId5" Type="http://schemas.openxmlformats.org/officeDocument/2006/relationships/image" Target="../media/image59.png"/><Relationship Id="rId4" Type="http://schemas.openxmlformats.org/officeDocument/2006/relationships/image" Target="../media/image58.png"/></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60.png"/></Relationships>
</file>

<file path=ppt/slides/_rels/slide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61.png"/></Relationships>
</file>

<file path=ppt/slides/_rels/slide1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5.xml"/><Relationship Id="rId1" Type="http://schemas.openxmlformats.org/officeDocument/2006/relationships/slideLayout" Target="../slideLayouts/slideLayout12.xml"/><Relationship Id="rId5" Type="http://schemas.openxmlformats.org/officeDocument/2006/relationships/image" Target="../media/image63.png"/><Relationship Id="rId4" Type="http://schemas.openxmlformats.org/officeDocument/2006/relationships/image" Target="../media/image62.png"/></Relationships>
</file>

<file path=ppt/slides/_rels/slide1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6.xml"/><Relationship Id="rId1" Type="http://schemas.openxmlformats.org/officeDocument/2006/relationships/slideLayout" Target="../slideLayouts/slideLayout12.xml"/><Relationship Id="rId5" Type="http://schemas.openxmlformats.org/officeDocument/2006/relationships/image" Target="../media/image65.png"/><Relationship Id="rId4" Type="http://schemas.openxmlformats.org/officeDocument/2006/relationships/image" Target="../media/image64.png"/></Relationships>
</file>

<file path=ppt/slides/_rels/slide1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7.xml"/><Relationship Id="rId1" Type="http://schemas.openxmlformats.org/officeDocument/2006/relationships/slideLayout" Target="../slideLayouts/slideLayout12.xml"/><Relationship Id="rId5" Type="http://schemas.openxmlformats.org/officeDocument/2006/relationships/image" Target="../media/image67.png"/><Relationship Id="rId4" Type="http://schemas.openxmlformats.org/officeDocument/2006/relationships/image" Target="../media/image66.png"/></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8.svg"/><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8.jpeg"/><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0A23">
            <a:alpha val="100000"/>
          </a:srgbClr>
        </a:solidFill>
        <a:effectLst/>
      </p:bgPr>
    </p:bg>
    <p:spTree>
      <p:nvGrpSpPr>
        <p:cNvPr id="1" name=""/>
        <p:cNvGrpSpPr/>
        <p:nvPr/>
      </p:nvGrpSpPr>
      <p:grpSpPr>
        <a:xfrm>
          <a:off x="0" y="0"/>
          <a:ext cx="0" cy="0"/>
          <a:chOff x="0" y="0"/>
          <a:chExt cx="0" cy="0"/>
        </a:xfrm>
      </p:grpSpPr>
      <p:pic>
        <p:nvPicPr>
          <p:cNvPr id="17" name="图片 16">
            <a:extLst>
              <a:ext uri="{FF2B5EF4-FFF2-40B4-BE49-F238E27FC236}">
                <a16:creationId xmlns:a16="http://schemas.microsoft.com/office/drawing/2014/main" id="{56EFD5F3-18DE-2672-7E81-3AA876578AE2}"/>
              </a:ext>
            </a:extLst>
          </p:cNvPr>
          <p:cNvPicPr>
            <a:picLocks/>
          </p:cNvPicPr>
          <p:nvPr/>
        </p:nvPicPr>
        <p:blipFill>
          <a:blip r:embed="rId3"/>
          <a:stretch>
            <a:fillRect/>
          </a:stretch>
        </p:blipFill>
        <p:spPr>
          <a:xfrm>
            <a:off x="0" y="0"/>
            <a:ext cx="12192000" cy="6858000"/>
          </a:xfrm>
          <a:prstGeom prst="rect">
            <a:avLst/>
          </a:prstGeom>
        </p:spPr>
      </p:pic>
      <p:sp>
        <p:nvSpPr>
          <p:cNvPr id="18" name="矩形 17">
            <a:extLst>
              <a:ext uri="{FF2B5EF4-FFF2-40B4-BE49-F238E27FC236}">
                <a16:creationId xmlns:a16="http://schemas.microsoft.com/office/drawing/2014/main" id="{DF7AA18E-4865-A998-8A41-AC83372652EE}"/>
              </a:ext>
            </a:extLst>
          </p:cNvPr>
          <p:cNvSpPr/>
          <p:nvPr/>
        </p:nvSpPr>
        <p:spPr>
          <a:xfrm>
            <a:off x="0" y="0"/>
            <a:ext cx="12192000" cy="6858000"/>
          </a:xfrm>
          <a:prstGeom prst="rect">
            <a:avLst/>
          </a:prstGeom>
          <a:gradFill>
            <a:gsLst>
              <a:gs pos="75000">
                <a:srgbClr val="070C18">
                  <a:alpha val="90000"/>
                </a:srgbClr>
              </a:gs>
              <a:gs pos="0">
                <a:srgbClr val="002060">
                  <a:alpha val="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AutoShape 2"/>
          <p:cNvSpPr/>
          <p:nvPr/>
        </p:nvSpPr>
        <p:spPr>
          <a:xfrm>
            <a:off x="762000" y="1394460"/>
            <a:ext cx="10668000" cy="2032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8800" b="1" i="0" u="none" strike="noStrike" dirty="0">
                <a:solidFill>
                  <a:srgbClr val="FFFFFF"/>
                </a:solidFill>
                <a:latin typeface="方正正大黑简体" panose="02000500000000000000" pitchFamily="2" charset="-122"/>
                <a:ea typeface="方正正大黑简体" panose="02000500000000000000" pitchFamily="2" charset="-122"/>
                <a:cs typeface="Poppins"/>
                <a:sym typeface="Poppins"/>
              </a:rPr>
              <a:t>智</a:t>
            </a:r>
            <a:r>
              <a:rPr lang="en-US" sz="8800" b="1" dirty="0">
                <a:solidFill>
                  <a:srgbClr val="FFFFFF"/>
                </a:solidFill>
                <a:latin typeface="方正正大黑简体" panose="02000500000000000000" pitchFamily="2" charset="-122"/>
                <a:ea typeface="方正正大黑简体" panose="02000500000000000000" pitchFamily="2" charset="-122"/>
                <a:cs typeface="Poppins"/>
                <a:sym typeface="Poppins"/>
              </a:rPr>
              <a:t> </a:t>
            </a:r>
            <a:r>
              <a:rPr lang="en-US" sz="8800" b="1" i="0" u="none" strike="noStrike" dirty="0">
                <a:solidFill>
                  <a:srgbClr val="FFFFFF"/>
                </a:solidFill>
                <a:latin typeface="方正正大黑简体" panose="02000500000000000000" pitchFamily="2" charset="-122"/>
                <a:ea typeface="方正正大黑简体" panose="02000500000000000000" pitchFamily="2" charset="-122"/>
                <a:cs typeface="Poppins"/>
                <a:sym typeface="Poppins"/>
              </a:rPr>
              <a:t>能 社 区 助 手</a:t>
            </a:r>
            <a:endParaRPr lang="en-US" dirty="0">
              <a:latin typeface="方正正大黑简体" panose="02000500000000000000" pitchFamily="2" charset="-122"/>
              <a:ea typeface="方正正大黑简体" panose="02000500000000000000" pitchFamily="2" charset="-122"/>
            </a:endParaRPr>
          </a:p>
          <a:p>
            <a:pPr indent="0" algn="ctr">
              <a:lnSpc>
                <a:spcPct val="100000"/>
              </a:lnSpc>
            </a:pPr>
            <a:r>
              <a:rPr lang="en-US" sz="3600" b="1" i="0" u="none" strike="noStrike" dirty="0">
                <a:solidFill>
                  <a:srgbClr val="00FFFF"/>
                </a:solidFill>
                <a:latin typeface="Poppins"/>
                <a:ea typeface="Poppins"/>
                <a:cs typeface="Poppins"/>
                <a:sym typeface="Poppins"/>
              </a:rPr>
              <a:t>（</a:t>
            </a:r>
            <a:r>
              <a:rPr lang="en-US" sz="3600" b="1" i="0" u="none" strike="noStrike" dirty="0" err="1">
                <a:solidFill>
                  <a:srgbClr val="00FFFF"/>
                </a:solidFill>
                <a:latin typeface="Poppins"/>
                <a:ea typeface="Poppins"/>
                <a:cs typeface="Poppins"/>
                <a:sym typeface="Poppins"/>
              </a:rPr>
              <a:t>AI驱动</a:t>
            </a:r>
            <a:r>
              <a:rPr lang="en-US" sz="3600" b="1" i="0" u="none" strike="noStrike" dirty="0">
                <a:solidFill>
                  <a:srgbClr val="00FFFF"/>
                </a:solidFill>
                <a:latin typeface="Poppins"/>
                <a:ea typeface="Poppins"/>
                <a:cs typeface="Poppins"/>
                <a:sym typeface="Poppins"/>
              </a:rPr>
              <a:t>）</a:t>
            </a:r>
          </a:p>
        </p:txBody>
      </p:sp>
      <p:sp>
        <p:nvSpPr>
          <p:cNvPr id="3" name="AutoShape 3"/>
          <p:cNvSpPr/>
          <p:nvPr/>
        </p:nvSpPr>
        <p:spPr>
          <a:xfrm>
            <a:off x="1016000" y="3520440"/>
            <a:ext cx="10160000" cy="4064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0" i="0" u="none" strike="noStrike" dirty="0" err="1">
                <a:solidFill>
                  <a:srgbClr val="E5E7EB"/>
                </a:solidFill>
                <a:latin typeface="Noto Sans SC"/>
                <a:ea typeface="Noto Sans SC"/>
                <a:cs typeface="Noto Sans SC"/>
                <a:sym typeface="Noto Sans SC"/>
              </a:rPr>
              <a:t>开源治理与运营的智能赋能者</a:t>
            </a:r>
            <a:endParaRPr lang="en-US" sz="1100" dirty="0"/>
          </a:p>
        </p:txBody>
      </p:sp>
      <p:sp>
        <p:nvSpPr>
          <p:cNvPr id="4" name="AutoShape 4"/>
          <p:cNvSpPr/>
          <p:nvPr/>
        </p:nvSpPr>
        <p:spPr>
          <a:xfrm>
            <a:off x="2794000" y="4132580"/>
            <a:ext cx="6604000" cy="25400"/>
          </a:xfrm>
          <a:prstGeom prst="roundRect">
            <a:avLst>
              <a:gd name="adj" fmla="val 0"/>
            </a:avLst>
          </a:prstGeom>
          <a:solidFill>
            <a:srgbClr val="00FFFF">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5" name="AutoShape 5"/>
          <p:cNvSpPr/>
          <p:nvPr/>
        </p:nvSpPr>
        <p:spPr>
          <a:xfrm>
            <a:off x="1016000" y="4318000"/>
            <a:ext cx="10160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9CA3AF"/>
                </a:solidFill>
                <a:latin typeface="Noto Sans SC"/>
                <a:ea typeface="Noto Sans SC"/>
                <a:cs typeface="Noto Sans SC"/>
                <a:sym typeface="Noto Sans SC"/>
              </a:rPr>
              <a:t>“OpenRank杯”开源数字生态分析与应用创新赛（开源治理与运营）</a:t>
            </a:r>
            <a:endParaRPr lang="en-US" sz="1100"/>
          </a:p>
        </p:txBody>
      </p:sp>
      <p:grpSp>
        <p:nvGrpSpPr>
          <p:cNvPr id="19" name="组合 18">
            <a:extLst>
              <a:ext uri="{FF2B5EF4-FFF2-40B4-BE49-F238E27FC236}">
                <a16:creationId xmlns:a16="http://schemas.microsoft.com/office/drawing/2014/main" id="{B59FF70D-312A-554F-56F9-596655D286C0}"/>
              </a:ext>
            </a:extLst>
          </p:cNvPr>
          <p:cNvGrpSpPr/>
          <p:nvPr/>
        </p:nvGrpSpPr>
        <p:grpSpPr>
          <a:xfrm>
            <a:off x="1569720" y="4614712"/>
            <a:ext cx="3302000" cy="848828"/>
            <a:chOff x="1569720" y="4614712"/>
            <a:chExt cx="3302000" cy="848828"/>
          </a:xfrm>
        </p:grpSpPr>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119120" y="4614712"/>
              <a:ext cx="203200" cy="203200"/>
            </a:xfrm>
            <a:prstGeom prst="rect">
              <a:avLst/>
            </a:prstGeom>
          </p:spPr>
        </p:pic>
        <p:sp>
          <p:nvSpPr>
            <p:cNvPr id="7" name="AutoShape 7"/>
            <p:cNvSpPr/>
            <p:nvPr/>
          </p:nvSpPr>
          <p:spPr>
            <a:xfrm>
              <a:off x="1569720" y="5184140"/>
              <a:ext cx="3302000" cy="2794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dirty="0" err="1">
                  <a:solidFill>
                    <a:srgbClr val="9CA3AF"/>
                  </a:solidFill>
                  <a:latin typeface="Noto Sans SC"/>
                  <a:ea typeface="Noto Sans SC"/>
                  <a:cs typeface="Noto Sans SC"/>
                  <a:sym typeface="Noto Sans SC"/>
                </a:rPr>
                <a:t>核心工具</a:t>
              </a:r>
              <a:endParaRPr lang="en-US" sz="1400" b="0" i="0" u="none" strike="noStrike" dirty="0">
                <a:solidFill>
                  <a:srgbClr val="9CA3AF"/>
                </a:solidFill>
                <a:latin typeface="Noto Sans SC"/>
                <a:ea typeface="Noto Sans SC"/>
                <a:cs typeface="Noto Sans SC"/>
                <a:sym typeface="Noto Sans SC"/>
              </a:endParaRPr>
            </a:p>
            <a:p>
              <a:pPr indent="0" algn="ctr">
                <a:lnSpc>
                  <a:spcPct val="125000"/>
                </a:lnSpc>
                <a:defRPr/>
              </a:pPr>
              <a:r>
                <a:rPr lang="zh-CN" altLang="en-US" sz="1400" b="0" i="0" u="none" strike="noStrike" dirty="0">
                  <a:solidFill>
                    <a:srgbClr val="9CA3AF"/>
                  </a:solidFill>
                  <a:latin typeface="Noto Sans SC"/>
                  <a:ea typeface="Noto Sans SC"/>
                  <a:cs typeface="Noto Sans SC"/>
                  <a:sym typeface="Noto Sans SC"/>
                </a:rPr>
                <a:t>基于开源</a:t>
              </a:r>
              <a:r>
                <a:rPr lang="en-US" sz="1600" b="0" i="0" u="none" strike="noStrike" dirty="0" err="1">
                  <a:solidFill>
                    <a:srgbClr val="9CA3AF"/>
                  </a:solidFill>
                  <a:latin typeface="Noto Sans SC"/>
                  <a:ea typeface="Noto Sans SC"/>
                  <a:cs typeface="Noto Sans SC"/>
                  <a:sym typeface="Noto Sans SC"/>
                </a:rPr>
                <a:t>OpenDigger</a:t>
              </a:r>
              <a:r>
                <a:rPr lang="en-US" sz="1400" b="0" i="0" u="none" strike="noStrike" dirty="0">
                  <a:solidFill>
                    <a:srgbClr val="9CA3AF"/>
                  </a:solidFill>
                  <a:latin typeface="Noto Sans SC"/>
                  <a:ea typeface="Noto Sans SC"/>
                  <a:cs typeface="Noto Sans SC"/>
                  <a:sym typeface="Noto Sans SC"/>
                </a:rPr>
                <a:t> </a:t>
              </a:r>
              <a:r>
                <a:rPr lang="en-US" sz="1600" b="0" i="0" u="none" strike="noStrike" dirty="0">
                  <a:solidFill>
                    <a:srgbClr val="9CA3AF"/>
                  </a:solidFill>
                  <a:latin typeface="Noto Sans SC"/>
                  <a:ea typeface="Noto Sans SC"/>
                  <a:cs typeface="Noto Sans SC"/>
                  <a:sym typeface="Noto Sans SC"/>
                </a:rPr>
                <a:t>+ </a:t>
              </a:r>
              <a:r>
                <a:rPr lang="en-US" sz="1600" b="0" i="0" u="none" strike="noStrike" dirty="0" err="1">
                  <a:solidFill>
                    <a:srgbClr val="9CA3AF"/>
                  </a:solidFill>
                  <a:latin typeface="Noto Sans SC"/>
                  <a:ea typeface="Noto Sans SC"/>
                  <a:cs typeface="Noto Sans SC"/>
                  <a:sym typeface="Noto Sans SC"/>
                </a:rPr>
                <a:t>MaxKB</a:t>
              </a:r>
              <a:r>
                <a:rPr lang="en-US" sz="1600" b="0" i="0" u="none" strike="noStrike" dirty="0">
                  <a:solidFill>
                    <a:srgbClr val="9CA3AF"/>
                  </a:solidFill>
                  <a:latin typeface="Noto Sans SC"/>
                  <a:ea typeface="Noto Sans SC"/>
                  <a:cs typeface="Noto Sans SC"/>
                  <a:sym typeface="Noto Sans SC"/>
                </a:rPr>
                <a:t> </a:t>
              </a:r>
              <a:r>
                <a:rPr lang="en-US" sz="1400" b="0" i="0" u="none" strike="noStrike" dirty="0">
                  <a:solidFill>
                    <a:srgbClr val="9CA3AF"/>
                  </a:solidFill>
                  <a:latin typeface="Noto Sans SC"/>
                  <a:ea typeface="Noto Sans SC"/>
                  <a:cs typeface="Noto Sans SC"/>
                  <a:sym typeface="Noto Sans SC"/>
                </a:rPr>
                <a:t>+ </a:t>
              </a:r>
              <a:r>
                <a:rPr lang="en-US" sz="1600" b="0" i="0" u="none" strike="noStrike" dirty="0">
                  <a:solidFill>
                    <a:srgbClr val="9CA3AF"/>
                  </a:solidFill>
                  <a:latin typeface="Noto Sans SC"/>
                  <a:ea typeface="Noto Sans SC"/>
                  <a:cs typeface="Noto Sans SC"/>
                  <a:sym typeface="Noto Sans SC"/>
                </a:rPr>
                <a:t>DeepSeek AI</a:t>
              </a:r>
              <a:endParaRPr lang="en-US" sz="1100" dirty="0"/>
            </a:p>
          </p:txBody>
        </p:sp>
      </p:grpSp>
      <p:grpSp>
        <p:nvGrpSpPr>
          <p:cNvPr id="20" name="组合 19">
            <a:extLst>
              <a:ext uri="{FF2B5EF4-FFF2-40B4-BE49-F238E27FC236}">
                <a16:creationId xmlns:a16="http://schemas.microsoft.com/office/drawing/2014/main" id="{980B855B-C050-B75A-DD69-986D383D3504}"/>
              </a:ext>
            </a:extLst>
          </p:cNvPr>
          <p:cNvGrpSpPr/>
          <p:nvPr/>
        </p:nvGrpSpPr>
        <p:grpSpPr>
          <a:xfrm>
            <a:off x="7837170" y="4700270"/>
            <a:ext cx="2286000" cy="700510"/>
            <a:chOff x="5669280" y="4770120"/>
            <a:chExt cx="2286000" cy="700510"/>
          </a:xfrm>
        </p:grpSpPr>
        <p:pic>
          <p:nvPicPr>
            <p:cNvPr id="8" name="Picture 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10680" y="4770120"/>
              <a:ext cx="203200" cy="203200"/>
            </a:xfrm>
            <a:prstGeom prst="rect">
              <a:avLst/>
            </a:prstGeom>
          </p:spPr>
        </p:pic>
        <p:sp>
          <p:nvSpPr>
            <p:cNvPr id="9" name="AutoShape 9"/>
            <p:cNvSpPr/>
            <p:nvPr/>
          </p:nvSpPr>
          <p:spPr>
            <a:xfrm>
              <a:off x="5669280" y="5191230"/>
              <a:ext cx="2286000" cy="2794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dirty="0" err="1">
                  <a:solidFill>
                    <a:srgbClr val="9CA3AF"/>
                  </a:solidFill>
                  <a:latin typeface="Noto Sans SC"/>
                  <a:ea typeface="Noto Sans SC"/>
                  <a:cs typeface="Noto Sans SC"/>
                  <a:sym typeface="Noto Sans SC"/>
                </a:rPr>
                <a:t>参赛团队</a:t>
              </a:r>
              <a:endParaRPr lang="en-US" sz="1600" dirty="0">
                <a:solidFill>
                  <a:srgbClr val="9CA3AF"/>
                </a:solidFill>
                <a:latin typeface="Noto Sans SC"/>
                <a:ea typeface="Noto Sans SC"/>
                <a:cs typeface="Noto Sans SC"/>
                <a:sym typeface="Noto Sans SC"/>
              </a:endParaRPr>
            </a:p>
            <a:p>
              <a:pPr indent="0" algn="ctr">
                <a:lnSpc>
                  <a:spcPct val="125000"/>
                </a:lnSpc>
                <a:defRPr/>
              </a:pPr>
              <a:r>
                <a:rPr lang="zh-CN" altLang="en-US" sz="1600" dirty="0">
                  <a:solidFill>
                    <a:srgbClr val="9CA3AF"/>
                  </a:solidFill>
                  <a:latin typeface="Noto Sans SC"/>
                  <a:ea typeface="Noto Sans SC"/>
                  <a:sym typeface="Noto Sans SC"/>
                </a:rPr>
                <a:t>多吃饭多看书</a:t>
              </a:r>
              <a:endParaRPr lang="en-US" sz="1200" dirty="0"/>
            </a:p>
          </p:txBody>
        </p:sp>
      </p:grpSp>
      <p:sp>
        <p:nvSpPr>
          <p:cNvPr id="12" name="AutoShape 12"/>
          <p:cNvSpPr/>
          <p:nvPr/>
        </p:nvSpPr>
        <p:spPr>
          <a:xfrm>
            <a:off x="1524000" y="5819140"/>
            <a:ext cx="9144000" cy="12700"/>
          </a:xfrm>
          <a:prstGeom prst="roundRect">
            <a:avLst>
              <a:gd name="adj" fmla="val 0"/>
            </a:avLst>
          </a:prstGeom>
          <a:solidFill>
            <a:srgbClr val="00FFFF">
              <a:alpha val="50000"/>
            </a:srgbClr>
          </a:solidFill>
          <a:ln w="25400" cap="flat" cmpd="sng">
            <a:noFill/>
            <a:prstDash val="solid"/>
            <a:round/>
          </a:ln>
        </p:spPr>
        <p:txBody>
          <a:bodyPr vert="horz" wrap="square" lIns="0" tIns="0" rIns="0" bIns="0" rtlCol="0" anchor="ctr" anchorCtr="0"/>
          <a:lstStyle/>
          <a:p>
            <a:pPr algn="ctr">
              <a:defRPr/>
            </a:pPr>
            <a:endParaRPr/>
          </a:p>
        </p:txBody>
      </p:sp>
      <p:sp>
        <p:nvSpPr>
          <p:cNvPr id="22" name="AutoShape 4">
            <a:extLst>
              <a:ext uri="{FF2B5EF4-FFF2-40B4-BE49-F238E27FC236}">
                <a16:creationId xmlns:a16="http://schemas.microsoft.com/office/drawing/2014/main" id="{7EB4445F-E7E9-5E30-86E8-5DF0A7289195}"/>
              </a:ext>
            </a:extLst>
          </p:cNvPr>
          <p:cNvSpPr/>
          <p:nvPr/>
        </p:nvSpPr>
        <p:spPr>
          <a:xfrm>
            <a:off x="3975100" y="4010659"/>
            <a:ext cx="4239260" cy="45719"/>
          </a:xfrm>
          <a:prstGeom prst="roundRect">
            <a:avLst>
              <a:gd name="adj" fmla="val 0"/>
            </a:avLst>
          </a:prstGeom>
          <a:solidFill>
            <a:srgbClr val="00FFFF">
              <a:alpha val="100000"/>
            </a:srgbClr>
          </a:solidFill>
          <a:ln w="25400" cap="flat" cmpd="sng">
            <a:noFill/>
            <a:prstDash val="solid"/>
            <a:round/>
          </a:ln>
        </p:spPr>
        <p:txBody>
          <a:bodyPr vert="horz" wrap="square" lIns="0" tIns="0" rIns="0" bIns="0" rtlCol="0" anchor="ctr" anchorCtr="0"/>
          <a:lstStyle/>
          <a:p>
            <a:pPr algn="ctr">
              <a:defRPr/>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11827">
            <a:alpha val="100000"/>
          </a:srgbClr>
        </a:solidFill>
        <a:effectLst/>
      </p:bgPr>
    </p:bg>
    <p:spTree>
      <p:nvGrpSpPr>
        <p:cNvPr id="1" name=""/>
        <p:cNvGrpSpPr/>
        <p:nvPr/>
      </p:nvGrpSpPr>
      <p:grpSpPr>
        <a:xfrm>
          <a:off x="0" y="0"/>
          <a:ext cx="0" cy="0"/>
          <a:chOff x="0" y="0"/>
          <a:chExt cx="0" cy="0"/>
        </a:xfrm>
      </p:grpSpPr>
      <p:pic>
        <p:nvPicPr>
          <p:cNvPr id="19" name="图片 18">
            <a:extLst>
              <a:ext uri="{FF2B5EF4-FFF2-40B4-BE49-F238E27FC236}">
                <a16:creationId xmlns:a16="http://schemas.microsoft.com/office/drawing/2014/main" id="{9A89DE40-98F5-9AB9-5511-13D1678CBF6E}"/>
              </a:ext>
            </a:extLst>
          </p:cNvPr>
          <p:cNvPicPr>
            <a:picLocks noChangeAspect="1"/>
          </p:cNvPicPr>
          <p:nvPr/>
        </p:nvPicPr>
        <p:blipFill>
          <a:blip r:embed="rId3"/>
          <a:stretch>
            <a:fillRect/>
          </a:stretch>
        </p:blipFill>
        <p:spPr>
          <a:xfrm>
            <a:off x="0" y="0"/>
            <a:ext cx="12192000" cy="6857999"/>
          </a:xfrm>
          <a:prstGeom prst="rect">
            <a:avLst/>
          </a:prstGeom>
        </p:spPr>
      </p:pic>
      <p:sp>
        <p:nvSpPr>
          <p:cNvPr id="3" name="AutoShape 3"/>
          <p:cNvSpPr/>
          <p:nvPr/>
        </p:nvSpPr>
        <p:spPr>
          <a:xfrm>
            <a:off x="1016000" y="635000"/>
            <a:ext cx="10160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800" dirty="0" err="1">
                <a:solidFill>
                  <a:srgbClr val="FFFFFF"/>
                </a:solidFill>
                <a:latin typeface="方正粗黑宋简体" panose="02000000000000000000" pitchFamily="2" charset="-122"/>
                <a:ea typeface="方正粗黑宋简体" panose="02000000000000000000" pitchFamily="2" charset="-122"/>
                <a:cs typeface="Poppins"/>
                <a:sym typeface="Poppins"/>
              </a:rPr>
              <a:t>赛项背景与项目定位</a:t>
            </a:r>
            <a:endParaRPr lang="en-US" sz="4800" dirty="0">
              <a:solidFill>
                <a:srgbClr val="FFFFFF"/>
              </a:solidFill>
              <a:latin typeface="方正粗黑宋简体" panose="02000000000000000000" pitchFamily="2" charset="-122"/>
              <a:ea typeface="方正粗黑宋简体" panose="02000000000000000000" pitchFamily="2" charset="-122"/>
              <a:cs typeface="Poppins"/>
            </a:endParaRPr>
          </a:p>
        </p:txBody>
      </p:sp>
      <p:cxnSp>
        <p:nvCxnSpPr>
          <p:cNvPr id="4" name="Connector 4"/>
          <p:cNvCxnSpPr/>
          <p:nvPr/>
        </p:nvCxnSpPr>
        <p:spPr>
          <a:xfrm rot="-8594">
            <a:off x="1016008" y="1644650"/>
            <a:ext cx="5080000" cy="12700"/>
          </a:xfrm>
          <a:prstGeom prst="straightConnector1">
            <a:avLst/>
          </a:prstGeom>
          <a:solidFill>
            <a:srgbClr val="DEE0E3">
              <a:alpha val="100000"/>
            </a:srgbClr>
          </a:solidFill>
          <a:ln w="25400" cap="flat" cmpd="sng">
            <a:solidFill>
              <a:srgbClr val="00FFFF">
                <a:alpha val="100000"/>
              </a:srgbClr>
            </a:solidFill>
            <a:prstDash val="solid"/>
            <a:round/>
            <a:headEnd type="none" w="lg" len="lg"/>
            <a:tailEnd type="none" w="lg" len="lg"/>
          </a:ln>
        </p:spPr>
      </p:cxnSp>
      <p:sp>
        <p:nvSpPr>
          <p:cNvPr id="5" name="AutoShape 5"/>
          <p:cNvSpPr/>
          <p:nvPr/>
        </p:nvSpPr>
        <p:spPr>
          <a:xfrm>
            <a:off x="1016000" y="1778000"/>
            <a:ext cx="508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00FFFF"/>
                </a:solidFill>
                <a:latin typeface="Poppins"/>
                <a:ea typeface="Poppins"/>
                <a:cs typeface="Poppins"/>
                <a:sym typeface="Poppins"/>
              </a:rPr>
              <a:t>赛项背景</a:t>
            </a:r>
            <a:endParaRPr lang="en-US" sz="1100"/>
          </a:p>
        </p:txBody>
      </p:sp>
      <p:sp>
        <p:nvSpPr>
          <p:cNvPr id="6" name="AutoShape 6"/>
          <p:cNvSpPr/>
          <p:nvPr/>
        </p:nvSpPr>
        <p:spPr>
          <a:xfrm>
            <a:off x="1016000" y="2603500"/>
            <a:ext cx="4572000" cy="889000"/>
          </a:xfrm>
          <a:prstGeom prst="rect">
            <a:avLst/>
          </a:prstGeom>
          <a:noFill/>
          <a:ln w="12700" cap="flat" cmpd="sng">
            <a:noFill/>
            <a:prstDash val="solid"/>
            <a:round/>
          </a:ln>
        </p:spPr>
        <p:txBody>
          <a:bodyPr vert="horz" wrap="square" lIns="0" tIns="0" rIns="0" bIns="0" rtlCol="0" anchor="t" anchorCtr="0"/>
          <a:lstStyle/>
          <a:p>
            <a:pPr indent="0" algn="l">
              <a:lnSpc>
                <a:spcPct val="150000"/>
              </a:lnSpc>
              <a:defRPr/>
            </a:pPr>
            <a:r>
              <a:rPr lang="en-US" sz="1800" b="0" i="0" u="none" strike="noStrike">
                <a:solidFill>
                  <a:srgbClr val="FFFFFF"/>
                </a:solidFill>
                <a:latin typeface="Roboto"/>
                <a:ea typeface="Roboto"/>
                <a:cs typeface="Roboto"/>
                <a:sym typeface="Roboto"/>
              </a:rPr>
              <a:t>开源治理与运营是数字生态健康发展的核心驱动力。有效治理能提升社区活跃度与项目可持续性。当前开源社区面临治理机制不完善、运营效率低下等挑战。现有工具链（如GitHub）缺乏对治理数据的深度整合与智能分析能力。</a:t>
            </a:r>
            <a:endParaRPr lang="en-US" sz="1100"/>
          </a:p>
        </p:txBody>
      </p:sp>
      <p:cxnSp>
        <p:nvCxnSpPr>
          <p:cNvPr id="7" name="Connector 7"/>
          <p:cNvCxnSpPr/>
          <p:nvPr/>
        </p:nvCxnSpPr>
        <p:spPr>
          <a:xfrm rot="5385053">
            <a:off x="4635500" y="3359164"/>
            <a:ext cx="2921000" cy="12700"/>
          </a:xfrm>
          <a:prstGeom prst="straightConnector1">
            <a:avLst/>
          </a:prstGeom>
          <a:solidFill>
            <a:srgbClr val="DEE0E3">
              <a:alpha val="100000"/>
            </a:srgbClr>
          </a:solidFill>
          <a:ln w="12700" cap="flat" cmpd="sng">
            <a:solidFill>
              <a:srgbClr val="00FFFF">
                <a:alpha val="30000"/>
              </a:srgbClr>
            </a:solidFill>
            <a:prstDash val="dash"/>
            <a:round/>
            <a:headEnd type="none" w="med" len="med"/>
            <a:tailEnd type="none" w="med" len="med"/>
          </a:ln>
        </p:spPr>
      </p:cxnSp>
      <p:sp>
        <p:nvSpPr>
          <p:cNvPr id="8" name="AutoShape 8"/>
          <p:cNvSpPr/>
          <p:nvPr/>
        </p:nvSpPr>
        <p:spPr>
          <a:xfrm>
            <a:off x="6604000" y="1778000"/>
            <a:ext cx="508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00FFFF"/>
                </a:solidFill>
                <a:latin typeface="Poppins"/>
                <a:ea typeface="Poppins"/>
                <a:cs typeface="Poppins"/>
                <a:sym typeface="Poppins"/>
              </a:rPr>
              <a:t>项目定位</a:t>
            </a:r>
            <a:endParaRPr lang="en-US" sz="1100"/>
          </a:p>
        </p:txBody>
      </p:sp>
      <p:sp>
        <p:nvSpPr>
          <p:cNvPr id="9" name="AutoShape 9"/>
          <p:cNvSpPr/>
          <p:nvPr/>
        </p:nvSpPr>
        <p:spPr>
          <a:xfrm>
            <a:off x="6682877" y="2603500"/>
            <a:ext cx="4572000" cy="1143000"/>
          </a:xfrm>
          <a:prstGeom prst="rect">
            <a:avLst/>
          </a:prstGeom>
          <a:noFill/>
          <a:ln w="12700" cap="flat" cmpd="sng">
            <a:noFill/>
            <a:prstDash val="solid"/>
            <a:round/>
          </a:ln>
        </p:spPr>
        <p:txBody>
          <a:bodyPr vert="horz" wrap="square" lIns="0" tIns="0" rIns="0" bIns="0" rtlCol="0" anchor="t" anchorCtr="0"/>
          <a:lstStyle/>
          <a:p>
            <a:pPr indent="0" algn="l">
              <a:lnSpc>
                <a:spcPct val="150000"/>
              </a:lnSpc>
              <a:defRPr/>
            </a:pPr>
            <a:r>
              <a:rPr lang="en-US" sz="1800" b="0" i="0" u="none" strike="noStrike">
                <a:solidFill>
                  <a:srgbClr val="FFFFFF"/>
                </a:solidFill>
                <a:latin typeface="Roboto"/>
                <a:ea typeface="Roboto"/>
                <a:cs typeface="Roboto"/>
                <a:sym typeface="Roboto"/>
              </a:rPr>
              <a:t>专注于AI驱动的开源治理与运营辅助工具。通过数据分析与智能服务提升治理效率与运营质量。构建统一智能中间件，通过API集成打破信息孤岛，为上层应用提供标准化数据接口和AI服务。</a:t>
            </a:r>
            <a:endParaRPr lang="en-US" sz="1100"/>
          </a:p>
        </p:txBody>
      </p:sp>
      <p:cxnSp>
        <p:nvCxnSpPr>
          <p:cNvPr id="10" name="Connector 10"/>
          <p:cNvCxnSpPr/>
          <p:nvPr/>
        </p:nvCxnSpPr>
        <p:spPr>
          <a:xfrm rot="-4297">
            <a:off x="1016004" y="5581650"/>
            <a:ext cx="10160000" cy="12700"/>
          </a:xfrm>
          <a:prstGeom prst="straightConnector1">
            <a:avLst/>
          </a:prstGeom>
          <a:solidFill>
            <a:srgbClr val="DEE0E3">
              <a:alpha val="100000"/>
            </a:srgbClr>
          </a:solidFill>
          <a:ln w="12700" cap="flat" cmpd="sng">
            <a:solidFill>
              <a:srgbClr val="00FFFF">
                <a:alpha val="30000"/>
              </a:srgbClr>
            </a:solidFill>
            <a:prstDash val="solid"/>
            <a:round/>
            <a:headEnd type="none" w="med" len="med"/>
            <a:tailEnd type="none" w="med" len="med"/>
          </a:ln>
        </p:spPr>
      </p:cxnSp>
      <p:sp>
        <p:nvSpPr>
          <p:cNvPr id="11" name="AutoShape 11"/>
          <p:cNvSpPr/>
          <p:nvPr/>
        </p:nvSpPr>
        <p:spPr>
          <a:xfrm>
            <a:off x="1016000" y="5842000"/>
            <a:ext cx="1778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Roboto"/>
                <a:ea typeface="Roboto"/>
                <a:cs typeface="Roboto"/>
                <a:sym typeface="Roboto"/>
              </a:rPr>
              <a:t>核心工具链:</a:t>
            </a:r>
            <a:endParaRPr lang="en-US" sz="1100"/>
          </a:p>
        </p:txBody>
      </p:sp>
      <p:pic>
        <p:nvPicPr>
          <p:cNvPr id="12" name="Picture 12"/>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429000" y="5867400"/>
            <a:ext cx="355600" cy="355600"/>
          </a:xfrm>
          <a:prstGeom prst="rect">
            <a:avLst/>
          </a:prstGeom>
        </p:spPr>
      </p:pic>
      <p:sp>
        <p:nvSpPr>
          <p:cNvPr id="13" name="AutoShape 13"/>
          <p:cNvSpPr/>
          <p:nvPr/>
        </p:nvSpPr>
        <p:spPr>
          <a:xfrm>
            <a:off x="3911600" y="5854700"/>
            <a:ext cx="1778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E5E7EB"/>
                </a:solidFill>
                <a:latin typeface="Roboto"/>
                <a:ea typeface="Roboto"/>
                <a:cs typeface="Roboto"/>
                <a:sym typeface="Roboto"/>
              </a:rPr>
              <a:t>OpenDigger</a:t>
            </a:r>
            <a:endParaRPr lang="en-US" sz="1100"/>
          </a:p>
        </p:txBody>
      </p:sp>
      <p:pic>
        <p:nvPicPr>
          <p:cNvPr id="14" name="Picture 1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842000" y="5867400"/>
            <a:ext cx="355600" cy="355600"/>
          </a:xfrm>
          <a:prstGeom prst="rect">
            <a:avLst/>
          </a:prstGeom>
        </p:spPr>
      </p:pic>
      <p:sp>
        <p:nvSpPr>
          <p:cNvPr id="15" name="AutoShape 15"/>
          <p:cNvSpPr/>
          <p:nvPr/>
        </p:nvSpPr>
        <p:spPr>
          <a:xfrm>
            <a:off x="6324600" y="5854700"/>
            <a:ext cx="1524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E5E7EB"/>
                </a:solidFill>
                <a:latin typeface="Roboto"/>
                <a:ea typeface="Roboto"/>
                <a:cs typeface="Roboto"/>
                <a:sym typeface="Roboto"/>
              </a:rPr>
              <a:t>MaxKB</a:t>
            </a:r>
            <a:endParaRPr lang="en-US" sz="1100"/>
          </a:p>
        </p:txBody>
      </p:sp>
      <p:pic>
        <p:nvPicPr>
          <p:cNvPr id="16" name="Picture 16"/>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255000" y="5867400"/>
            <a:ext cx="355600" cy="355600"/>
          </a:xfrm>
          <a:prstGeom prst="rect">
            <a:avLst/>
          </a:prstGeom>
        </p:spPr>
      </p:pic>
      <p:sp>
        <p:nvSpPr>
          <p:cNvPr id="17" name="AutoShape 17"/>
          <p:cNvSpPr/>
          <p:nvPr/>
        </p:nvSpPr>
        <p:spPr>
          <a:xfrm>
            <a:off x="8737600" y="5854700"/>
            <a:ext cx="1778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E5E7EB"/>
                </a:solidFill>
                <a:latin typeface="Roboto"/>
                <a:ea typeface="Roboto"/>
                <a:cs typeface="Roboto"/>
                <a:sym typeface="Roboto"/>
              </a:rPr>
              <a:t>DeepSeek</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11827">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alphaModFix amt="20000"/>
          </a:blip>
          <a:srcRect t="21875" b="21875"/>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1016000" y="508000"/>
            <a:ext cx="10160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800" dirty="0" err="1">
                <a:solidFill>
                  <a:srgbClr val="FFFFFF"/>
                </a:solidFill>
                <a:latin typeface="方正粗黑宋简体" panose="02000000000000000000" pitchFamily="2" charset="-122"/>
                <a:ea typeface="方正粗黑宋简体" panose="02000000000000000000" pitchFamily="2" charset="-122"/>
                <a:cs typeface="Poppins"/>
                <a:sym typeface="Poppins"/>
              </a:rPr>
              <a:t>开源治理与运营痛点与解决方案</a:t>
            </a:r>
            <a:endParaRPr lang="en-US" sz="4800" dirty="0">
              <a:solidFill>
                <a:srgbClr val="FFFFFF"/>
              </a:solidFill>
              <a:latin typeface="方正粗黑宋简体" panose="02000000000000000000" pitchFamily="2" charset="-122"/>
              <a:ea typeface="方正粗黑宋简体" panose="02000000000000000000" pitchFamily="2" charset="-122"/>
              <a:cs typeface="Poppins"/>
            </a:endParaRPr>
          </a:p>
        </p:txBody>
      </p:sp>
      <p:cxnSp>
        <p:nvCxnSpPr>
          <p:cNvPr id="4" name="Connector 4"/>
          <p:cNvCxnSpPr/>
          <p:nvPr/>
        </p:nvCxnSpPr>
        <p:spPr>
          <a:xfrm rot="-4297">
            <a:off x="1016004" y="1568450"/>
            <a:ext cx="10160000" cy="12700"/>
          </a:xfrm>
          <a:prstGeom prst="straightConnector1">
            <a:avLst/>
          </a:prstGeom>
          <a:solidFill>
            <a:srgbClr val="DEE0E3">
              <a:alpha val="100000"/>
            </a:srgbClr>
          </a:solidFill>
          <a:ln w="12700" cap="flat" cmpd="sng">
            <a:solidFill>
              <a:srgbClr val="00FFFF">
                <a:alpha val="50000"/>
              </a:srgbClr>
            </a:solidFill>
            <a:prstDash val="solid"/>
            <a:round/>
            <a:headEnd type="none" w="med" len="med"/>
            <a:tailEnd type="none" w="med" len="med"/>
          </a:ln>
        </p:spPr>
      </p:cxnSp>
      <p:sp>
        <p:nvSpPr>
          <p:cNvPr id="5" name="AutoShape 5"/>
          <p:cNvSpPr/>
          <p:nvPr/>
        </p:nvSpPr>
        <p:spPr>
          <a:xfrm>
            <a:off x="1016000" y="1778000"/>
            <a:ext cx="5080000" cy="508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2800" b="1" i="0" u="none" strike="noStrike">
                <a:solidFill>
                  <a:srgbClr val="00FFFF"/>
                </a:solidFill>
                <a:latin typeface="Poppins"/>
                <a:ea typeface="Poppins"/>
                <a:cs typeface="Poppins"/>
                <a:sym typeface="Poppins"/>
              </a:rPr>
              <a:t>核心痛点</a:t>
            </a:r>
            <a:endParaRPr lang="en-US" sz="1100"/>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286000"/>
            <a:ext cx="304800" cy="304800"/>
          </a:xfrm>
          <a:prstGeom prst="rect">
            <a:avLst/>
          </a:prstGeom>
        </p:spPr>
      </p:pic>
      <p:sp>
        <p:nvSpPr>
          <p:cNvPr id="7" name="AutoShape 7"/>
          <p:cNvSpPr/>
          <p:nvPr/>
        </p:nvSpPr>
        <p:spPr>
          <a:xfrm>
            <a:off x="1447800" y="22606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Roboto"/>
                <a:ea typeface="Roboto"/>
                <a:cs typeface="Roboto"/>
                <a:sym typeface="Roboto"/>
              </a:rPr>
              <a:t>治理效率低下</a:t>
            </a:r>
            <a:endParaRPr lang="en-US" sz="1100"/>
          </a:p>
        </p:txBody>
      </p:sp>
      <p:sp>
        <p:nvSpPr>
          <p:cNvPr id="8" name="AutoShape 8"/>
          <p:cNvSpPr/>
          <p:nvPr/>
        </p:nvSpPr>
        <p:spPr>
          <a:xfrm>
            <a:off x="1447800" y="2692400"/>
            <a:ext cx="4572000" cy="1778000"/>
          </a:xfrm>
          <a:prstGeom prst="rect">
            <a:avLst/>
          </a:prstGeom>
          <a:noFill/>
          <a:ln w="12700" cap="flat" cmpd="sng">
            <a:noFill/>
            <a:prstDash val="solid"/>
            <a:round/>
          </a:ln>
        </p:spPr>
        <p:txBody>
          <a:bodyPr vert="horz" wrap="square" lIns="0" tIns="0" rIns="0" bIns="0" rtlCol="0" anchor="t" anchorCtr="0"/>
          <a:lstStyle/>
          <a:p>
            <a:pPr marL="228600" indent="-228600" algn="l">
              <a:lnSpc>
                <a:spcPct val="133333"/>
              </a:lnSpc>
              <a:buClr>
                <a:srgbClr val="FFFFFF"/>
              </a:buClr>
              <a:buChar char="•"/>
              <a:defRPr/>
            </a:pPr>
            <a:r>
              <a:rPr lang="en-US" sz="1800" b="0" i="0" u="none" strike="noStrike">
                <a:solidFill>
                  <a:srgbClr val="FFFFFF"/>
                </a:solidFill>
                <a:latin typeface="Roboto"/>
                <a:ea typeface="Roboto"/>
                <a:cs typeface="Roboto"/>
                <a:sym typeface="Roboto"/>
              </a:rPr>
              <a:t>社区维护者需花费大量时间处理重复性的新手问题（如环境配置、PR规范），占用超过40%的时间，无法专注于项目治理。</a:t>
            </a:r>
            <a:endParaRPr lang="en-US" sz="1100"/>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3860800"/>
            <a:ext cx="304800" cy="304800"/>
          </a:xfrm>
          <a:prstGeom prst="rect">
            <a:avLst/>
          </a:prstGeom>
        </p:spPr>
      </p:pic>
      <p:sp>
        <p:nvSpPr>
          <p:cNvPr id="10" name="AutoShape 10"/>
          <p:cNvSpPr/>
          <p:nvPr/>
        </p:nvSpPr>
        <p:spPr>
          <a:xfrm>
            <a:off x="1447800" y="38354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Roboto"/>
                <a:ea typeface="Roboto"/>
                <a:cs typeface="Roboto"/>
                <a:sym typeface="Roboto"/>
              </a:rPr>
              <a:t>运营数据割裂</a:t>
            </a:r>
            <a:endParaRPr lang="en-US" sz="1100"/>
          </a:p>
        </p:txBody>
      </p:sp>
      <p:sp>
        <p:nvSpPr>
          <p:cNvPr id="11" name="AutoShape 11"/>
          <p:cNvSpPr/>
          <p:nvPr/>
        </p:nvSpPr>
        <p:spPr>
          <a:xfrm>
            <a:off x="1447800" y="4267200"/>
            <a:ext cx="4572000" cy="1524000"/>
          </a:xfrm>
          <a:prstGeom prst="rect">
            <a:avLst/>
          </a:prstGeom>
          <a:noFill/>
          <a:ln w="12700" cap="flat" cmpd="sng">
            <a:noFill/>
            <a:prstDash val="solid"/>
            <a:round/>
          </a:ln>
        </p:spPr>
        <p:txBody>
          <a:bodyPr vert="horz" wrap="square" lIns="0" tIns="0" rIns="0" bIns="0" rtlCol="0" anchor="t" anchorCtr="0"/>
          <a:lstStyle/>
          <a:p>
            <a:pPr marL="228600" indent="-228600" algn="l">
              <a:lnSpc>
                <a:spcPct val="133333"/>
              </a:lnSpc>
              <a:buClr>
                <a:srgbClr val="FFFFFF"/>
              </a:buClr>
              <a:buChar char="•"/>
              <a:defRPr/>
            </a:pPr>
            <a:r>
              <a:rPr lang="en-US" sz="1800" b="0" i="0" u="none" strike="noStrike">
                <a:solidFill>
                  <a:srgbClr val="FFFFFF"/>
                </a:solidFill>
                <a:latin typeface="Roboto"/>
                <a:ea typeface="Roboto"/>
                <a:cs typeface="Roboto"/>
                <a:sym typeface="Roboto"/>
              </a:rPr>
              <a:t>项目数据散落在代码托管平台、CI/CD工具、社区论坛等多个地方，数据格式不统一，难以进行关联分析。</a:t>
            </a:r>
            <a:endParaRPr lang="en-US" sz="1100"/>
          </a:p>
        </p:txBody>
      </p:sp>
      <p:pic>
        <p:nvPicPr>
          <p:cNvPr id="12" name="Picture 12"/>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5435600"/>
            <a:ext cx="304800" cy="304800"/>
          </a:xfrm>
          <a:prstGeom prst="rect">
            <a:avLst/>
          </a:prstGeom>
        </p:spPr>
      </p:pic>
      <p:sp>
        <p:nvSpPr>
          <p:cNvPr id="13" name="AutoShape 13"/>
          <p:cNvSpPr/>
          <p:nvPr/>
        </p:nvSpPr>
        <p:spPr>
          <a:xfrm>
            <a:off x="1447800" y="54102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Roboto"/>
                <a:ea typeface="Roboto"/>
                <a:cs typeface="Roboto"/>
                <a:sym typeface="Roboto"/>
              </a:rPr>
              <a:t>新手参与门槛高</a:t>
            </a:r>
            <a:endParaRPr lang="en-US" sz="1100"/>
          </a:p>
        </p:txBody>
      </p:sp>
      <p:sp>
        <p:nvSpPr>
          <p:cNvPr id="14" name="AutoShape 14"/>
          <p:cNvSpPr/>
          <p:nvPr/>
        </p:nvSpPr>
        <p:spPr>
          <a:xfrm>
            <a:off x="1447800" y="5842000"/>
            <a:ext cx="4572000" cy="1397000"/>
          </a:xfrm>
          <a:prstGeom prst="rect">
            <a:avLst/>
          </a:prstGeom>
          <a:noFill/>
          <a:ln w="12700" cap="flat" cmpd="sng">
            <a:noFill/>
            <a:prstDash val="solid"/>
            <a:round/>
          </a:ln>
        </p:spPr>
        <p:txBody>
          <a:bodyPr vert="horz" wrap="square" lIns="0" tIns="0" rIns="0" bIns="0" rtlCol="0" anchor="t" anchorCtr="0"/>
          <a:lstStyle/>
          <a:p>
            <a:pPr marL="228600" indent="-228600" algn="l">
              <a:lnSpc>
                <a:spcPct val="133333"/>
              </a:lnSpc>
              <a:buClr>
                <a:srgbClr val="FFFFFF"/>
              </a:buClr>
              <a:buChar char="•"/>
              <a:defRPr/>
            </a:pPr>
            <a:r>
              <a:rPr lang="en-US" sz="1800" b="0" i="0" u="none" strike="noStrike">
                <a:solidFill>
                  <a:srgbClr val="FFFFFF"/>
                </a:solidFill>
                <a:latin typeface="Roboto"/>
                <a:ea typeface="Roboto"/>
                <a:cs typeface="Roboto"/>
                <a:sym typeface="Roboto"/>
              </a:rPr>
              <a:t>缺乏自动化的任务难度评估与推荐机制，新手难以找到适合自己能力的切入点。</a:t>
            </a:r>
            <a:endParaRPr lang="en-US" sz="1100"/>
          </a:p>
        </p:txBody>
      </p:sp>
      <p:cxnSp>
        <p:nvCxnSpPr>
          <p:cNvPr id="15" name="Connector 15"/>
          <p:cNvCxnSpPr/>
          <p:nvPr/>
        </p:nvCxnSpPr>
        <p:spPr>
          <a:xfrm rot="5389768">
            <a:off x="3962400" y="4159259"/>
            <a:ext cx="4267200" cy="12700"/>
          </a:xfrm>
          <a:prstGeom prst="straightConnector1">
            <a:avLst/>
          </a:prstGeom>
          <a:solidFill>
            <a:srgbClr val="DEE0E3">
              <a:alpha val="100000"/>
            </a:srgbClr>
          </a:solidFill>
          <a:ln w="12700" cap="flat" cmpd="sng">
            <a:solidFill>
              <a:srgbClr val="00FFFF">
                <a:alpha val="50000"/>
              </a:srgbClr>
            </a:solidFill>
            <a:prstDash val="solid"/>
            <a:round/>
            <a:headEnd type="none" w="med" len="med"/>
            <a:tailEnd type="none" w="med" len="med"/>
          </a:ln>
        </p:spPr>
      </p:cxnSp>
      <p:sp>
        <p:nvSpPr>
          <p:cNvPr id="16" name="AutoShape 16"/>
          <p:cNvSpPr/>
          <p:nvPr/>
        </p:nvSpPr>
        <p:spPr>
          <a:xfrm>
            <a:off x="6604000" y="1778000"/>
            <a:ext cx="5080000" cy="508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2800" b="1" i="0" u="none" strike="noStrike">
                <a:solidFill>
                  <a:srgbClr val="00FFFF"/>
                </a:solidFill>
                <a:latin typeface="Poppins"/>
                <a:ea typeface="Poppins"/>
                <a:cs typeface="Poppins"/>
                <a:sym typeface="Poppins"/>
              </a:rPr>
              <a:t>解决方案</a:t>
            </a:r>
            <a:endParaRPr lang="en-US" sz="1100"/>
          </a:p>
        </p:txBody>
      </p:sp>
      <p:pic>
        <p:nvPicPr>
          <p:cNvPr id="17" name="Picture 17"/>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604000" y="2286000"/>
            <a:ext cx="304800" cy="304800"/>
          </a:xfrm>
          <a:prstGeom prst="rect">
            <a:avLst/>
          </a:prstGeom>
        </p:spPr>
      </p:pic>
      <p:sp>
        <p:nvSpPr>
          <p:cNvPr id="18" name="AutoShape 18"/>
          <p:cNvSpPr/>
          <p:nvPr/>
        </p:nvSpPr>
        <p:spPr>
          <a:xfrm>
            <a:off x="7035800" y="22606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Roboto"/>
                <a:ea typeface="Roboto"/>
                <a:cs typeface="Roboto"/>
                <a:sym typeface="Roboto"/>
              </a:rPr>
              <a:t>数据整合</a:t>
            </a:r>
            <a:endParaRPr lang="en-US" sz="1100"/>
          </a:p>
        </p:txBody>
      </p:sp>
      <p:sp>
        <p:nvSpPr>
          <p:cNvPr id="19" name="AutoShape 19"/>
          <p:cNvSpPr/>
          <p:nvPr/>
        </p:nvSpPr>
        <p:spPr>
          <a:xfrm>
            <a:off x="7035800" y="2692400"/>
            <a:ext cx="4572000" cy="1651000"/>
          </a:xfrm>
          <a:prstGeom prst="rect">
            <a:avLst/>
          </a:prstGeom>
          <a:noFill/>
          <a:ln w="12700" cap="flat" cmpd="sng">
            <a:noFill/>
            <a:prstDash val="solid"/>
            <a:round/>
          </a:ln>
        </p:spPr>
        <p:txBody>
          <a:bodyPr vert="horz" wrap="square" lIns="0" tIns="0" rIns="0" bIns="0" rtlCol="0" anchor="t" anchorCtr="0"/>
          <a:lstStyle/>
          <a:p>
            <a:pPr marL="228600" indent="-228600" algn="l">
              <a:lnSpc>
                <a:spcPct val="133333"/>
              </a:lnSpc>
              <a:buClr>
                <a:srgbClr val="FFFFFF"/>
              </a:buClr>
              <a:buChar char="•"/>
              <a:defRPr/>
            </a:pPr>
            <a:r>
              <a:rPr lang="en-US" sz="1800" b="0" i="0" u="none" strike="noStrike">
                <a:solidFill>
                  <a:srgbClr val="FFFFFF"/>
                </a:solidFill>
                <a:latin typeface="Roboto"/>
                <a:ea typeface="Roboto"/>
                <a:cs typeface="Roboto"/>
                <a:sym typeface="Roboto"/>
              </a:rPr>
              <a:t>基于OpenDigger获取项目治理核心指标。采用ETL流程，将多源异构数据清洗、转换并加载到统一的数据仓库中。</a:t>
            </a:r>
            <a:endParaRPr lang="en-US" sz="1100"/>
          </a:p>
        </p:txBody>
      </p:sp>
      <p:pic>
        <p:nvPicPr>
          <p:cNvPr id="20" name="Picture 2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604000" y="3860800"/>
            <a:ext cx="304800" cy="304800"/>
          </a:xfrm>
          <a:prstGeom prst="rect">
            <a:avLst/>
          </a:prstGeom>
        </p:spPr>
      </p:pic>
      <p:sp>
        <p:nvSpPr>
          <p:cNvPr id="21" name="AutoShape 21"/>
          <p:cNvSpPr/>
          <p:nvPr/>
        </p:nvSpPr>
        <p:spPr>
          <a:xfrm>
            <a:off x="7035800" y="38354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Roboto"/>
                <a:ea typeface="Roboto"/>
                <a:cs typeface="Roboto"/>
                <a:sym typeface="Roboto"/>
              </a:rPr>
              <a:t>智能决策</a:t>
            </a:r>
            <a:endParaRPr lang="en-US" sz="1100"/>
          </a:p>
        </p:txBody>
      </p:sp>
      <p:sp>
        <p:nvSpPr>
          <p:cNvPr id="22" name="AutoShape 22"/>
          <p:cNvSpPr/>
          <p:nvPr/>
        </p:nvSpPr>
        <p:spPr>
          <a:xfrm>
            <a:off x="7035800" y="4267200"/>
            <a:ext cx="4572000" cy="1651000"/>
          </a:xfrm>
          <a:prstGeom prst="rect">
            <a:avLst/>
          </a:prstGeom>
          <a:noFill/>
          <a:ln w="12700" cap="flat" cmpd="sng">
            <a:noFill/>
            <a:prstDash val="solid"/>
            <a:round/>
          </a:ln>
        </p:spPr>
        <p:txBody>
          <a:bodyPr vert="horz" wrap="square" lIns="0" tIns="0" rIns="0" bIns="0" rtlCol="0" anchor="t" anchorCtr="0"/>
          <a:lstStyle/>
          <a:p>
            <a:pPr marL="228600" indent="-228600" algn="l">
              <a:lnSpc>
                <a:spcPct val="133333"/>
              </a:lnSpc>
              <a:buClr>
                <a:srgbClr val="FFFFFF"/>
              </a:buClr>
              <a:buChar char="•"/>
              <a:defRPr/>
            </a:pPr>
            <a:r>
              <a:rPr lang="en-US" sz="1800" b="0" i="0" u="none" strike="noStrike">
                <a:solidFill>
                  <a:srgbClr val="FFFFFF"/>
                </a:solidFill>
                <a:latin typeface="Roboto"/>
                <a:ea typeface="Roboto"/>
                <a:cs typeface="Roboto"/>
                <a:sym typeface="Roboto"/>
              </a:rPr>
              <a:t>通过AI对数据分析，提供治理建议与优化方案。构建社区健康度评估模型，综合多维度指标进行量化评分。</a:t>
            </a:r>
            <a:endParaRPr lang="en-US" sz="1100"/>
          </a:p>
        </p:txBody>
      </p:sp>
      <p:pic>
        <p:nvPicPr>
          <p:cNvPr id="23" name="Picture 2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604000" y="5435600"/>
            <a:ext cx="304800" cy="304800"/>
          </a:xfrm>
          <a:prstGeom prst="rect">
            <a:avLst/>
          </a:prstGeom>
        </p:spPr>
      </p:pic>
      <p:sp>
        <p:nvSpPr>
          <p:cNvPr id="24" name="AutoShape 24"/>
          <p:cNvSpPr/>
          <p:nvPr/>
        </p:nvSpPr>
        <p:spPr>
          <a:xfrm>
            <a:off x="7035800" y="54102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Roboto"/>
                <a:ea typeface="Roboto"/>
                <a:cs typeface="Roboto"/>
                <a:sym typeface="Roboto"/>
              </a:rPr>
              <a:t>运营优化</a:t>
            </a:r>
            <a:endParaRPr lang="en-US" sz="1100"/>
          </a:p>
        </p:txBody>
      </p:sp>
      <p:sp>
        <p:nvSpPr>
          <p:cNvPr id="25" name="AutoShape 25"/>
          <p:cNvSpPr/>
          <p:nvPr/>
        </p:nvSpPr>
        <p:spPr>
          <a:xfrm>
            <a:off x="7035800" y="5842000"/>
            <a:ext cx="4572000" cy="1143000"/>
          </a:xfrm>
          <a:prstGeom prst="rect">
            <a:avLst/>
          </a:prstGeom>
          <a:noFill/>
          <a:ln w="12700" cap="flat" cmpd="sng">
            <a:noFill/>
            <a:prstDash val="solid"/>
            <a:round/>
          </a:ln>
        </p:spPr>
        <p:txBody>
          <a:bodyPr vert="horz" wrap="square" lIns="0" tIns="0" rIns="0" bIns="0" rtlCol="0" anchor="t" anchorCtr="0"/>
          <a:lstStyle/>
          <a:p>
            <a:pPr marL="228600" indent="-228600" algn="l">
              <a:lnSpc>
                <a:spcPct val="133333"/>
              </a:lnSpc>
              <a:buClr>
                <a:srgbClr val="FFFFFF"/>
              </a:buClr>
              <a:buChar char="•"/>
              <a:defRPr/>
            </a:pPr>
            <a:r>
              <a:rPr lang="en-US" sz="1800" b="0" i="0" u="none" strike="noStrike">
                <a:solidFill>
                  <a:srgbClr val="FFFFFF"/>
                </a:solidFill>
                <a:latin typeface="Roboto"/>
                <a:ea typeface="Roboto"/>
                <a:cs typeface="Roboto"/>
                <a:sym typeface="Roboto"/>
              </a:rPr>
              <a:t>智能推荐“Good First Issue”，提升贡献者留存。</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11827">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alphaModFix amt="37000"/>
          </a:blip>
          <a:srcRect t="21875" b="21875"/>
          <a:stretch>
            <a:fillRect/>
          </a:stretch>
        </p:blipFill>
        <p:spPr>
          <a:xfrm>
            <a:off x="17961" y="-8981"/>
            <a:ext cx="12192000" cy="6858000"/>
          </a:xfrm>
          <a:prstGeom prst="rect">
            <a:avLst/>
          </a:prstGeom>
          <a:noFill/>
          <a:ln w="25400" cap="flat" cmpd="sng">
            <a:noFill/>
            <a:prstDash val="solid"/>
            <a:round/>
          </a:ln>
        </p:spPr>
      </p:pic>
      <p:sp>
        <p:nvSpPr>
          <p:cNvPr id="3" name="AutoShape 3"/>
          <p:cNvSpPr/>
          <p:nvPr/>
        </p:nvSpPr>
        <p:spPr>
          <a:xfrm>
            <a:off x="1016000" y="508000"/>
            <a:ext cx="10160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800" dirty="0" err="1">
                <a:solidFill>
                  <a:srgbClr val="FFFFFF"/>
                </a:solidFill>
                <a:latin typeface="方正粗黑宋简体" panose="02000000000000000000" pitchFamily="2" charset="-122"/>
                <a:ea typeface="方正粗黑宋简体" panose="02000000000000000000" pitchFamily="2" charset="-122"/>
                <a:cs typeface="Poppins"/>
                <a:sym typeface="Poppins"/>
              </a:rPr>
              <a:t>项目概述与核心功能</a:t>
            </a:r>
            <a:endParaRPr lang="en-US" sz="4800" dirty="0">
              <a:solidFill>
                <a:srgbClr val="FFFFFF"/>
              </a:solidFill>
              <a:latin typeface="方正粗黑宋简体" panose="02000000000000000000" pitchFamily="2" charset="-122"/>
              <a:ea typeface="方正粗黑宋简体" panose="02000000000000000000" pitchFamily="2" charset="-122"/>
              <a:cs typeface="Poppins"/>
            </a:endParaRPr>
          </a:p>
        </p:txBody>
      </p:sp>
      <p:cxnSp>
        <p:nvCxnSpPr>
          <p:cNvPr id="4" name="Connector 4"/>
          <p:cNvCxnSpPr/>
          <p:nvPr/>
        </p:nvCxnSpPr>
        <p:spPr>
          <a:xfrm rot="-2700000">
            <a:off x="2630" y="-6350"/>
            <a:ext cx="12700" cy="12700"/>
          </a:xfrm>
          <a:prstGeom prst="straightConnector1">
            <a:avLst/>
          </a:prstGeom>
          <a:solidFill>
            <a:srgbClr val="DEE0E3">
              <a:alpha val="100000"/>
            </a:srgbClr>
          </a:solidFill>
          <a:ln w="25400" cap="flat" cmpd="sng">
            <a:solidFill>
              <a:srgbClr val="2B2F36">
                <a:alpha val="100000"/>
              </a:srgbClr>
            </a:solidFill>
            <a:prstDash val="solid"/>
            <a:round/>
            <a:headEnd type="none" w="lg" len="lg"/>
            <a:tailEnd type="none" w="lg" len="lg"/>
          </a:ln>
        </p:spPr>
      </p:cxnSp>
      <p:grpSp>
        <p:nvGrpSpPr>
          <p:cNvPr id="23" name="组合 22">
            <a:extLst>
              <a:ext uri="{FF2B5EF4-FFF2-40B4-BE49-F238E27FC236}">
                <a16:creationId xmlns:a16="http://schemas.microsoft.com/office/drawing/2014/main" id="{12D7808D-92DB-D139-6ECF-31021D9DE0D9}"/>
              </a:ext>
            </a:extLst>
          </p:cNvPr>
          <p:cNvGrpSpPr/>
          <p:nvPr/>
        </p:nvGrpSpPr>
        <p:grpSpPr>
          <a:xfrm>
            <a:off x="1016000" y="2159000"/>
            <a:ext cx="4927600" cy="2159000"/>
            <a:chOff x="1016000" y="2159000"/>
            <a:chExt cx="5080000" cy="2159000"/>
          </a:xfrm>
        </p:grpSpPr>
        <p:sp>
          <p:nvSpPr>
            <p:cNvPr id="5" name="AutoShape 5"/>
            <p:cNvSpPr/>
            <p:nvPr/>
          </p:nvSpPr>
          <p:spPr>
            <a:xfrm>
              <a:off x="1016000" y="2159000"/>
              <a:ext cx="5080000" cy="2159000"/>
            </a:xfrm>
            <a:prstGeom prst="roundRect">
              <a:avLst>
                <a:gd name="adj" fmla="val 4705"/>
              </a:avLst>
            </a:prstGeom>
            <a:solidFill>
              <a:srgbClr val="1F2937">
                <a:alpha val="80000"/>
              </a:srgbClr>
            </a:solidFill>
            <a:ln w="12700" cap="flat" cmpd="sng">
              <a:solidFill>
                <a:srgbClr val="00FFFF">
                  <a:alpha val="50000"/>
                </a:srgbClr>
              </a:solidFill>
              <a:prstDash val="solid"/>
              <a:round/>
            </a:ln>
          </p:spPr>
          <p:txBody>
            <a:bodyPr vert="horz" wrap="square" lIns="304800" tIns="254000" rIns="304800" bIns="254000" rtlCol="0" anchor="t" anchorCtr="0"/>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20800" y="2463800"/>
              <a:ext cx="457200" cy="457200"/>
            </a:xfrm>
            <a:prstGeom prst="rect">
              <a:avLst/>
            </a:prstGeom>
          </p:spPr>
        </p:pic>
        <p:sp>
          <p:nvSpPr>
            <p:cNvPr id="7" name="AutoShape 7"/>
            <p:cNvSpPr/>
            <p:nvPr/>
          </p:nvSpPr>
          <p:spPr>
            <a:xfrm>
              <a:off x="1930400" y="2438400"/>
              <a:ext cx="3810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00FFFF"/>
                  </a:solidFill>
                  <a:latin typeface="Poppins"/>
                  <a:ea typeface="Poppins"/>
                  <a:cs typeface="Poppins"/>
                  <a:sym typeface="Poppins"/>
                </a:rPr>
                <a:t>治理数据洞察</a:t>
              </a:r>
              <a:endParaRPr lang="en-US" sz="1100"/>
            </a:p>
          </p:txBody>
        </p:sp>
        <p:sp>
          <p:nvSpPr>
            <p:cNvPr id="8" name="AutoShape 8"/>
            <p:cNvSpPr/>
            <p:nvPr/>
          </p:nvSpPr>
          <p:spPr>
            <a:xfrm>
              <a:off x="1320800" y="2971800"/>
              <a:ext cx="4470400" cy="1143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800" b="0" i="0" u="none" strike="noStrike">
                  <a:solidFill>
                    <a:srgbClr val="FFFFFF"/>
                  </a:solidFill>
                  <a:latin typeface="Roboto"/>
                  <a:ea typeface="Roboto"/>
                  <a:cs typeface="Roboto"/>
                  <a:sym typeface="Roboto"/>
                </a:rPr>
                <a:t>采用ECharts/Matplotlib进行可视化，展示项目活跃度、Issue响应时间、贡献者增长趋势等核心指标。</a:t>
              </a:r>
              <a:endParaRPr lang="en-US" sz="1100"/>
            </a:p>
          </p:txBody>
        </p:sp>
      </p:grpSp>
      <p:sp>
        <p:nvSpPr>
          <p:cNvPr id="9" name="AutoShape 9"/>
          <p:cNvSpPr/>
          <p:nvPr/>
        </p:nvSpPr>
        <p:spPr>
          <a:xfrm>
            <a:off x="6239256" y="2159000"/>
            <a:ext cx="4936744" cy="2159000"/>
          </a:xfrm>
          <a:prstGeom prst="roundRect">
            <a:avLst>
              <a:gd name="adj" fmla="val 4705"/>
            </a:avLst>
          </a:prstGeom>
          <a:solidFill>
            <a:srgbClr val="1F2937">
              <a:alpha val="80000"/>
            </a:srgbClr>
          </a:solidFill>
          <a:ln w="12700" cap="flat" cmpd="sng">
            <a:solidFill>
              <a:srgbClr val="00FFFF">
                <a:alpha val="50000"/>
              </a:srgbClr>
            </a:solidFill>
            <a:prstDash val="solid"/>
            <a:round/>
          </a:ln>
        </p:spPr>
        <p:txBody>
          <a:bodyPr vert="horz" wrap="square" lIns="304800" tIns="254000" rIns="304800" bIns="254000" rtlCol="0" anchor="t" anchorCtr="0"/>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00800" y="2463800"/>
            <a:ext cx="457200" cy="457200"/>
          </a:xfrm>
          <a:prstGeom prst="rect">
            <a:avLst/>
          </a:prstGeom>
        </p:spPr>
      </p:pic>
      <p:sp>
        <p:nvSpPr>
          <p:cNvPr id="11" name="AutoShape 11"/>
          <p:cNvSpPr/>
          <p:nvPr/>
        </p:nvSpPr>
        <p:spPr>
          <a:xfrm>
            <a:off x="7010400" y="2438400"/>
            <a:ext cx="3810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00FFFF"/>
                </a:solidFill>
                <a:latin typeface="Poppins"/>
                <a:ea typeface="Poppins"/>
                <a:cs typeface="Poppins"/>
                <a:sym typeface="Poppins"/>
              </a:rPr>
              <a:t>智能运营决策</a:t>
            </a:r>
            <a:endParaRPr lang="en-US" sz="1100"/>
          </a:p>
        </p:txBody>
      </p:sp>
      <p:sp>
        <p:nvSpPr>
          <p:cNvPr id="12" name="AutoShape 12"/>
          <p:cNvSpPr/>
          <p:nvPr/>
        </p:nvSpPr>
        <p:spPr>
          <a:xfrm>
            <a:off x="6400800" y="2971800"/>
            <a:ext cx="4470400" cy="1397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800" b="0" i="0" u="none" strike="noStrike" dirty="0" err="1">
                <a:solidFill>
                  <a:srgbClr val="FFFFFF"/>
                </a:solidFill>
                <a:latin typeface="Roboto"/>
                <a:ea typeface="Roboto"/>
                <a:cs typeface="Roboto"/>
                <a:sym typeface="Roboto"/>
              </a:rPr>
              <a:t>基于XGBoost</a:t>
            </a:r>
            <a:r>
              <a:rPr lang="en-US" sz="1800" b="0" i="0" u="none" strike="noStrike" dirty="0">
                <a:solidFill>
                  <a:srgbClr val="FFFFFF"/>
                </a:solidFill>
                <a:latin typeface="Roboto"/>
                <a:ea typeface="Roboto"/>
                <a:cs typeface="Roboto"/>
                <a:sym typeface="Roboto"/>
              </a:rPr>
              <a:t>/</a:t>
            </a:r>
            <a:r>
              <a:rPr lang="en-US" sz="1800" b="0" i="0" u="none" strike="noStrike" dirty="0" err="1">
                <a:solidFill>
                  <a:srgbClr val="FFFFFF"/>
                </a:solidFill>
                <a:latin typeface="Roboto"/>
                <a:ea typeface="Roboto"/>
                <a:cs typeface="Roboto"/>
                <a:sym typeface="Roboto"/>
              </a:rPr>
              <a:t>LSTM模型对项目数据进行分析，预测社区健康度，并提供可操作的治理建议</a:t>
            </a:r>
            <a:r>
              <a:rPr lang="en-US" sz="1800" b="0" i="0" u="none" strike="noStrike" dirty="0">
                <a:solidFill>
                  <a:srgbClr val="FFFFFF"/>
                </a:solidFill>
                <a:latin typeface="Roboto"/>
                <a:ea typeface="Roboto"/>
                <a:cs typeface="Roboto"/>
                <a:sym typeface="Roboto"/>
              </a:rPr>
              <a:t>。</a:t>
            </a:r>
            <a:endParaRPr lang="en-US" sz="1100" dirty="0"/>
          </a:p>
        </p:txBody>
      </p:sp>
      <p:grpSp>
        <p:nvGrpSpPr>
          <p:cNvPr id="22" name="组合 21">
            <a:extLst>
              <a:ext uri="{FF2B5EF4-FFF2-40B4-BE49-F238E27FC236}">
                <a16:creationId xmlns:a16="http://schemas.microsoft.com/office/drawing/2014/main" id="{DEF367EF-0558-02B6-BA4B-091AD0D11A82}"/>
              </a:ext>
            </a:extLst>
          </p:cNvPr>
          <p:cNvGrpSpPr/>
          <p:nvPr/>
        </p:nvGrpSpPr>
        <p:grpSpPr>
          <a:xfrm>
            <a:off x="1016000" y="4572000"/>
            <a:ext cx="4927600" cy="2209800"/>
            <a:chOff x="1016000" y="4572000"/>
            <a:chExt cx="5080000" cy="2209800"/>
          </a:xfrm>
        </p:grpSpPr>
        <p:sp>
          <p:nvSpPr>
            <p:cNvPr id="13" name="AutoShape 13"/>
            <p:cNvSpPr/>
            <p:nvPr/>
          </p:nvSpPr>
          <p:spPr>
            <a:xfrm>
              <a:off x="1016000" y="4572000"/>
              <a:ext cx="5080000" cy="2159000"/>
            </a:xfrm>
            <a:prstGeom prst="roundRect">
              <a:avLst>
                <a:gd name="adj" fmla="val 4705"/>
              </a:avLst>
            </a:prstGeom>
            <a:solidFill>
              <a:srgbClr val="1F2937">
                <a:alpha val="80000"/>
              </a:srgbClr>
            </a:solidFill>
            <a:ln w="12700" cap="flat" cmpd="sng">
              <a:solidFill>
                <a:srgbClr val="00FFFF">
                  <a:alpha val="50000"/>
                </a:srgbClr>
              </a:solidFill>
              <a:prstDash val="solid"/>
              <a:round/>
            </a:ln>
          </p:spPr>
          <p:txBody>
            <a:bodyPr vert="horz" wrap="square" lIns="304800" tIns="254000" rIns="304800" bIns="254000" rtlCol="0" anchor="t" anchorCtr="0"/>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320800" y="4876800"/>
              <a:ext cx="457200" cy="457200"/>
            </a:xfrm>
            <a:prstGeom prst="rect">
              <a:avLst/>
            </a:prstGeom>
          </p:spPr>
        </p:pic>
        <p:sp>
          <p:nvSpPr>
            <p:cNvPr id="15" name="AutoShape 15"/>
            <p:cNvSpPr/>
            <p:nvPr/>
          </p:nvSpPr>
          <p:spPr>
            <a:xfrm>
              <a:off x="1930400" y="4851400"/>
              <a:ext cx="3810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dirty="0" err="1">
                  <a:solidFill>
                    <a:srgbClr val="00FFFF"/>
                  </a:solidFill>
                  <a:latin typeface="Poppins"/>
                  <a:ea typeface="Poppins"/>
                  <a:cs typeface="Poppins"/>
                  <a:sym typeface="Poppins"/>
                </a:rPr>
                <a:t>新手引导系统</a:t>
              </a:r>
              <a:endParaRPr lang="en-US" sz="1100" dirty="0"/>
            </a:p>
          </p:txBody>
        </p:sp>
        <p:sp>
          <p:nvSpPr>
            <p:cNvPr id="16" name="AutoShape 16"/>
            <p:cNvSpPr/>
            <p:nvPr/>
          </p:nvSpPr>
          <p:spPr>
            <a:xfrm>
              <a:off x="1320800" y="5384800"/>
              <a:ext cx="4470400" cy="1397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800" b="0" i="0" u="none" strike="noStrike">
                  <a:solidFill>
                    <a:srgbClr val="FFFFFF"/>
                  </a:solidFill>
                  <a:latin typeface="Roboto"/>
                  <a:ea typeface="Roboto"/>
                  <a:cs typeface="Roboto"/>
                  <a:sym typeface="Roboto"/>
                </a:rPr>
                <a:t>利用NLP技术分析Issue标题和描述，结合贡献者历史数据构建推荐算法，精准推送“Good First Issue”。</a:t>
              </a:r>
              <a:endParaRPr lang="en-US" sz="1100"/>
            </a:p>
          </p:txBody>
        </p:sp>
      </p:grpSp>
      <p:grpSp>
        <p:nvGrpSpPr>
          <p:cNvPr id="24" name="组合 23">
            <a:extLst>
              <a:ext uri="{FF2B5EF4-FFF2-40B4-BE49-F238E27FC236}">
                <a16:creationId xmlns:a16="http://schemas.microsoft.com/office/drawing/2014/main" id="{212D0CC2-42CC-4816-DFA0-2A28114F640F}"/>
              </a:ext>
            </a:extLst>
          </p:cNvPr>
          <p:cNvGrpSpPr/>
          <p:nvPr/>
        </p:nvGrpSpPr>
        <p:grpSpPr>
          <a:xfrm>
            <a:off x="6239256" y="4572000"/>
            <a:ext cx="4936744" cy="2209800"/>
            <a:chOff x="6096000" y="4572000"/>
            <a:chExt cx="5080000" cy="2209800"/>
          </a:xfrm>
        </p:grpSpPr>
        <p:sp>
          <p:nvSpPr>
            <p:cNvPr id="17" name="AutoShape 17"/>
            <p:cNvSpPr/>
            <p:nvPr/>
          </p:nvSpPr>
          <p:spPr>
            <a:xfrm>
              <a:off x="6096000" y="4572000"/>
              <a:ext cx="5080000" cy="2159000"/>
            </a:xfrm>
            <a:prstGeom prst="roundRect">
              <a:avLst>
                <a:gd name="adj" fmla="val 4705"/>
              </a:avLst>
            </a:prstGeom>
            <a:solidFill>
              <a:srgbClr val="1F2937">
                <a:alpha val="80000"/>
              </a:srgbClr>
            </a:solidFill>
            <a:ln w="12700" cap="flat" cmpd="sng">
              <a:solidFill>
                <a:srgbClr val="00FFFF">
                  <a:alpha val="50000"/>
                </a:srgbClr>
              </a:solidFill>
              <a:prstDash val="solid"/>
              <a:round/>
            </a:ln>
          </p:spPr>
          <p:txBody>
            <a:bodyPr vert="horz" wrap="square" lIns="304800" tIns="254000" rIns="304800" bIns="254000" rtlCol="0" anchor="t" anchorCtr="0"/>
            <a:lstStyle/>
            <a:p>
              <a:pPr algn="ctr">
                <a:defRPr/>
              </a:pPr>
              <a:endParaRPr/>
            </a:p>
          </p:txBody>
        </p:sp>
        <p:pic>
          <p:nvPicPr>
            <p:cNvPr id="18" name="Picture 18"/>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400800" y="4876800"/>
              <a:ext cx="457200" cy="457200"/>
            </a:xfrm>
            <a:prstGeom prst="rect">
              <a:avLst/>
            </a:prstGeom>
          </p:spPr>
        </p:pic>
        <p:sp>
          <p:nvSpPr>
            <p:cNvPr id="19" name="AutoShape 19"/>
            <p:cNvSpPr/>
            <p:nvPr/>
          </p:nvSpPr>
          <p:spPr>
            <a:xfrm>
              <a:off x="7010400" y="4851400"/>
              <a:ext cx="3810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dirty="0" err="1">
                  <a:solidFill>
                    <a:srgbClr val="00FFFF"/>
                  </a:solidFill>
                  <a:latin typeface="Poppins"/>
                  <a:ea typeface="Poppins"/>
                  <a:cs typeface="Poppins"/>
                  <a:sym typeface="Poppins"/>
                </a:rPr>
                <a:t>社区运营报告</a:t>
              </a:r>
              <a:endParaRPr lang="en-US" sz="1100" dirty="0"/>
            </a:p>
          </p:txBody>
        </p:sp>
        <p:sp>
          <p:nvSpPr>
            <p:cNvPr id="20" name="AutoShape 20"/>
            <p:cNvSpPr/>
            <p:nvPr/>
          </p:nvSpPr>
          <p:spPr>
            <a:xfrm>
              <a:off x="6400800" y="5384800"/>
              <a:ext cx="4470400" cy="1397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800" b="0" i="0" u="none" strike="noStrike" dirty="0" err="1">
                  <a:solidFill>
                    <a:srgbClr val="FFFFFF"/>
                  </a:solidFill>
                  <a:latin typeface="Roboto"/>
                  <a:ea typeface="Roboto"/>
                  <a:cs typeface="Roboto"/>
                  <a:sym typeface="Roboto"/>
                </a:rPr>
                <a:t>支持自定义报告模板，通过定时任务（Cron</a:t>
              </a:r>
              <a:r>
                <a:rPr lang="en-US" sz="1800" b="0" i="0" u="none" strike="noStrike" dirty="0">
                  <a:solidFill>
                    <a:srgbClr val="FFFFFF"/>
                  </a:solidFill>
                  <a:latin typeface="Roboto"/>
                  <a:ea typeface="Roboto"/>
                  <a:cs typeface="Roboto"/>
                  <a:sym typeface="Roboto"/>
                </a:rPr>
                <a:t> </a:t>
              </a:r>
              <a:r>
                <a:rPr lang="en-US" sz="1800" b="0" i="0" u="none" strike="noStrike" dirty="0" err="1">
                  <a:solidFill>
                    <a:srgbClr val="FFFFFF"/>
                  </a:solidFill>
                  <a:latin typeface="Roboto"/>
                  <a:ea typeface="Roboto"/>
                  <a:cs typeface="Roboto"/>
                  <a:sym typeface="Roboto"/>
                </a:rPr>
                <a:t>Job）自动生成，内容涵盖关键指标、异常检测和趋势分析</a:t>
              </a:r>
              <a:r>
                <a:rPr lang="en-US" sz="1800" b="0" i="0" u="none" strike="noStrike" dirty="0">
                  <a:solidFill>
                    <a:srgbClr val="FFFFFF"/>
                  </a:solidFill>
                  <a:latin typeface="Roboto"/>
                  <a:ea typeface="Roboto"/>
                  <a:cs typeface="Roboto"/>
                  <a:sym typeface="Roboto"/>
                </a:rPr>
                <a:t>。</a:t>
              </a:r>
              <a:endParaRPr lang="en-US" sz="1100" dirty="0"/>
            </a:p>
          </p:txBody>
        </p:sp>
      </p:grpSp>
      <p:sp>
        <p:nvSpPr>
          <p:cNvPr id="21" name="AutoShape 21"/>
          <p:cNvSpPr/>
          <p:nvPr/>
        </p:nvSpPr>
        <p:spPr>
          <a:xfrm>
            <a:off x="1016000" y="1524000"/>
            <a:ext cx="1016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0" i="0" u="none" strike="noStrike" dirty="0" err="1">
                <a:solidFill>
                  <a:srgbClr val="FFFFFF"/>
                </a:solidFill>
                <a:latin typeface="Roboto"/>
                <a:ea typeface="Roboto"/>
                <a:cs typeface="Roboto"/>
                <a:sym typeface="Roboto"/>
              </a:rPr>
              <a:t>从数据可视化到智能建议，再到自动化报告，覆盖开源治理与运营全流程的一站式解决方案</a:t>
            </a:r>
            <a:r>
              <a:rPr lang="en-US" sz="2000" b="0" i="0" u="none" strike="noStrike" dirty="0">
                <a:solidFill>
                  <a:srgbClr val="FFFFFF"/>
                </a:solidFill>
                <a:latin typeface="Roboto"/>
                <a:ea typeface="Roboto"/>
                <a:cs typeface="Roboto"/>
                <a:sym typeface="Roboto"/>
              </a:rPr>
              <a: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11827">
            <a:alpha val="100000"/>
          </a:srgbClr>
        </a:solidFill>
        <a:effectLst/>
      </p:bgPr>
    </p:bg>
    <p:spTree>
      <p:nvGrpSpPr>
        <p:cNvPr id="1" name=""/>
        <p:cNvGrpSpPr/>
        <p:nvPr/>
      </p:nvGrpSpPr>
      <p:grpSpPr>
        <a:xfrm>
          <a:off x="0" y="0"/>
          <a:ext cx="0" cy="0"/>
          <a:chOff x="0" y="0"/>
          <a:chExt cx="0" cy="0"/>
        </a:xfrm>
      </p:grpSpPr>
      <p:pic>
        <p:nvPicPr>
          <p:cNvPr id="25" name="Picture 2">
            <a:extLst>
              <a:ext uri="{FF2B5EF4-FFF2-40B4-BE49-F238E27FC236}">
                <a16:creationId xmlns:a16="http://schemas.microsoft.com/office/drawing/2014/main" id="{597D5D31-0534-C895-C210-CA4D09101BC0}"/>
              </a:ext>
            </a:extLst>
          </p:cNvPr>
          <p:cNvPicPr>
            <a:picLocks noChangeAspect="1"/>
          </p:cNvPicPr>
          <p:nvPr/>
        </p:nvPicPr>
        <p:blipFill>
          <a:blip r:embed="rId3">
            <a:alphaModFix amt="20000"/>
          </a:blip>
          <a:srcRect t="21875" b="21875"/>
          <a:stretch>
            <a:fillRect/>
          </a:stretch>
        </p:blipFill>
        <p:spPr>
          <a:xfrm>
            <a:off x="0" y="0"/>
            <a:ext cx="12192000" cy="6858000"/>
          </a:xfrm>
          <a:prstGeom prst="rect">
            <a:avLst/>
          </a:prstGeom>
          <a:noFill/>
          <a:ln w="25400" cap="flat" cmpd="sng">
            <a:noFill/>
            <a:prstDash val="solid"/>
            <a:round/>
          </a:ln>
        </p:spPr>
      </p:pic>
      <p:sp>
        <p:nvSpPr>
          <p:cNvPr id="2" name="AutoShape 2"/>
          <p:cNvSpPr/>
          <p:nvPr/>
        </p:nvSpPr>
        <p:spPr>
          <a:xfrm>
            <a:off x="1016000" y="508000"/>
            <a:ext cx="8890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800" dirty="0" err="1">
                <a:solidFill>
                  <a:srgbClr val="FFFFFF"/>
                </a:solidFill>
                <a:latin typeface="方正粗黑宋简体" panose="02000000000000000000" pitchFamily="2" charset="-122"/>
                <a:ea typeface="方正粗黑宋简体" panose="02000000000000000000" pitchFamily="2" charset="-122"/>
                <a:cs typeface="Poppins"/>
                <a:sym typeface="Poppins"/>
              </a:rPr>
              <a:t>数据驱动的开源治理创新</a:t>
            </a:r>
            <a:endParaRPr lang="en-US" sz="4800" dirty="0">
              <a:solidFill>
                <a:srgbClr val="FFFFFF"/>
              </a:solidFill>
              <a:latin typeface="方正粗黑宋简体" panose="02000000000000000000" pitchFamily="2" charset="-122"/>
              <a:ea typeface="方正粗黑宋简体" panose="02000000000000000000" pitchFamily="2" charset="-122"/>
              <a:cs typeface="Poppins"/>
            </a:endParaRPr>
          </a:p>
        </p:txBody>
      </p:sp>
      <p:cxnSp>
        <p:nvCxnSpPr>
          <p:cNvPr id="3" name="Connector 3"/>
          <p:cNvCxnSpPr/>
          <p:nvPr/>
        </p:nvCxnSpPr>
        <p:spPr>
          <a:xfrm rot="-8594">
            <a:off x="1016008" y="1644650"/>
            <a:ext cx="5080016" cy="12700"/>
          </a:xfrm>
          <a:prstGeom prst="straightConnector1">
            <a:avLst/>
          </a:prstGeom>
          <a:solidFill>
            <a:srgbClr val="DEE0E3">
              <a:alpha val="100000"/>
            </a:srgbClr>
          </a:solidFill>
          <a:ln w="25400" cap="flat" cmpd="sng">
            <a:solidFill>
              <a:srgbClr val="00FFFF">
                <a:alpha val="100000"/>
              </a:srgbClr>
            </a:solidFill>
            <a:prstDash val="solid"/>
            <a:round/>
            <a:headEnd type="none" w="lg" len="lg"/>
            <a:tailEnd type="none" w="lg" len="lg"/>
          </a:ln>
        </p:spPr>
      </p:cxnSp>
      <p:sp>
        <p:nvSpPr>
          <p:cNvPr id="4" name="AutoShape 4"/>
          <p:cNvSpPr/>
          <p:nvPr/>
        </p:nvSpPr>
        <p:spPr>
          <a:xfrm>
            <a:off x="1016000" y="1905000"/>
            <a:ext cx="5080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00FFFF"/>
                </a:solidFill>
                <a:latin typeface="Poppins"/>
                <a:ea typeface="Poppins"/>
                <a:cs typeface="Poppins"/>
                <a:sym typeface="Poppins"/>
              </a:rPr>
              <a:t>治理创新点</a:t>
            </a:r>
            <a:endParaRPr lang="en-US" sz="1100"/>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590800"/>
            <a:ext cx="304800" cy="304800"/>
          </a:xfrm>
          <a:prstGeom prst="rect">
            <a:avLst/>
          </a:prstGeom>
        </p:spPr>
      </p:pic>
      <p:sp>
        <p:nvSpPr>
          <p:cNvPr id="6" name="AutoShape 6"/>
          <p:cNvSpPr/>
          <p:nvPr/>
        </p:nvSpPr>
        <p:spPr>
          <a:xfrm>
            <a:off x="1422400" y="2565400"/>
            <a:ext cx="4572000" cy="355600"/>
          </a:xfrm>
          <a:prstGeom prst="rect">
            <a:avLst/>
          </a:prstGeom>
          <a:noFill/>
          <a:ln w="12700" cap="flat" cmpd="sng">
            <a:noFill/>
            <a:prstDash val="solid"/>
            <a:round/>
          </a:ln>
        </p:spPr>
        <p:txBody>
          <a:bodyPr vert="horz" wrap="square" lIns="0" tIns="0" rIns="0" bIns="0" rtlCol="0" anchor="ctr" anchorCtr="0"/>
          <a:lstStyle/>
          <a:p>
            <a:pPr indent="0" algn="l">
              <a:lnSpc>
                <a:spcPct val="133333"/>
              </a:lnSpc>
              <a:defRPr/>
            </a:pPr>
            <a:r>
              <a:rPr lang="en-US" sz="2000" b="1" i="0" u="none" strike="noStrike">
                <a:solidFill>
                  <a:srgbClr val="FFFFFF"/>
                </a:solidFill>
                <a:latin typeface="Roboto"/>
                <a:ea typeface="Roboto"/>
                <a:cs typeface="Roboto"/>
                <a:sym typeface="Roboto"/>
              </a:rPr>
              <a:t>量化治理指标</a:t>
            </a:r>
            <a:endParaRPr lang="en-US" sz="1100"/>
          </a:p>
        </p:txBody>
      </p:sp>
      <p:sp>
        <p:nvSpPr>
          <p:cNvPr id="7" name="AutoShape 7"/>
          <p:cNvSpPr/>
          <p:nvPr/>
        </p:nvSpPr>
        <p:spPr>
          <a:xfrm>
            <a:off x="1422400" y="2921000"/>
            <a:ext cx="4826000" cy="762000"/>
          </a:xfrm>
          <a:prstGeom prst="rect">
            <a:avLst/>
          </a:prstGeom>
          <a:noFill/>
          <a:ln w="12700" cap="flat" cmpd="sng">
            <a:noFill/>
            <a:prstDash val="solid"/>
            <a:round/>
          </a:ln>
        </p:spPr>
        <p:txBody>
          <a:bodyPr vert="horz" wrap="square" lIns="0" tIns="0" rIns="0" bIns="0" rtlCol="0" anchor="t" anchorCtr="0"/>
          <a:lstStyle/>
          <a:p>
            <a:pPr indent="0" algn="l">
              <a:lnSpc>
                <a:spcPct val="150000"/>
              </a:lnSpc>
              <a:defRPr/>
            </a:pPr>
            <a:r>
              <a:rPr lang="en-US" sz="1800" b="0" i="0" u="none" strike="noStrike">
                <a:solidFill>
                  <a:srgbClr val="D1D5DB"/>
                </a:solidFill>
                <a:latin typeface="Roboto"/>
                <a:ea typeface="Roboto"/>
                <a:cs typeface="Roboto"/>
                <a:sym typeface="Roboto"/>
              </a:rPr>
              <a:t>将活跃度、响应时间、贡献率等指标量化为可分析数值。</a:t>
            </a:r>
            <a:endParaRPr lang="en-US" sz="1100"/>
          </a:p>
        </p:txBody>
      </p:sp>
      <p:pic>
        <p:nvPicPr>
          <p:cNvPr id="8" name="Picture 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3733800"/>
            <a:ext cx="304800" cy="304800"/>
          </a:xfrm>
          <a:prstGeom prst="rect">
            <a:avLst/>
          </a:prstGeom>
        </p:spPr>
      </p:pic>
      <p:sp>
        <p:nvSpPr>
          <p:cNvPr id="9" name="AutoShape 9"/>
          <p:cNvSpPr/>
          <p:nvPr/>
        </p:nvSpPr>
        <p:spPr>
          <a:xfrm>
            <a:off x="1422400" y="3708400"/>
            <a:ext cx="4572000" cy="355600"/>
          </a:xfrm>
          <a:prstGeom prst="rect">
            <a:avLst/>
          </a:prstGeom>
          <a:noFill/>
          <a:ln w="12700" cap="flat" cmpd="sng">
            <a:noFill/>
            <a:prstDash val="solid"/>
            <a:round/>
          </a:ln>
        </p:spPr>
        <p:txBody>
          <a:bodyPr vert="horz" wrap="square" lIns="0" tIns="0" rIns="0" bIns="0" rtlCol="0" anchor="ctr" anchorCtr="0"/>
          <a:lstStyle/>
          <a:p>
            <a:pPr indent="0" algn="l">
              <a:lnSpc>
                <a:spcPct val="133333"/>
              </a:lnSpc>
              <a:defRPr/>
            </a:pPr>
            <a:r>
              <a:rPr lang="en-US" sz="2000" b="1" i="0" u="none" strike="noStrike">
                <a:solidFill>
                  <a:srgbClr val="FFFFFF"/>
                </a:solidFill>
                <a:latin typeface="Roboto"/>
                <a:ea typeface="Roboto"/>
                <a:cs typeface="Roboto"/>
                <a:sym typeface="Roboto"/>
              </a:rPr>
              <a:t>智能治理建议</a:t>
            </a:r>
            <a:endParaRPr lang="en-US" sz="1100"/>
          </a:p>
        </p:txBody>
      </p:sp>
      <p:sp>
        <p:nvSpPr>
          <p:cNvPr id="10" name="AutoShape 10"/>
          <p:cNvSpPr/>
          <p:nvPr/>
        </p:nvSpPr>
        <p:spPr>
          <a:xfrm>
            <a:off x="1422400" y="4038600"/>
            <a:ext cx="4826000" cy="762000"/>
          </a:xfrm>
          <a:prstGeom prst="rect">
            <a:avLst/>
          </a:prstGeom>
          <a:noFill/>
          <a:ln w="12700" cap="flat" cmpd="sng">
            <a:noFill/>
            <a:prstDash val="solid"/>
            <a:round/>
          </a:ln>
        </p:spPr>
        <p:txBody>
          <a:bodyPr vert="horz" wrap="square" lIns="0" tIns="0" rIns="0" bIns="0" rtlCol="0" anchor="t" anchorCtr="0"/>
          <a:lstStyle/>
          <a:p>
            <a:pPr indent="0" algn="l">
              <a:lnSpc>
                <a:spcPct val="150000"/>
              </a:lnSpc>
              <a:defRPr/>
            </a:pPr>
            <a:r>
              <a:rPr lang="en-US" sz="1800" b="0" i="0" u="none" strike="noStrike">
                <a:solidFill>
                  <a:srgbClr val="D1D5DB"/>
                </a:solidFill>
                <a:latin typeface="Roboto"/>
                <a:ea typeface="Roboto"/>
                <a:cs typeface="Roboto"/>
                <a:sym typeface="Roboto"/>
              </a:rPr>
              <a:t>基于数据对比，自动提供治理优化建议，辅助决策。</a:t>
            </a:r>
            <a:endParaRPr lang="en-US" sz="1100"/>
          </a:p>
        </p:txBody>
      </p:sp>
      <p:pic>
        <p:nvPicPr>
          <p:cNvPr id="11" name="Picture 11"/>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4876800"/>
            <a:ext cx="304800" cy="304800"/>
          </a:xfrm>
          <a:prstGeom prst="rect">
            <a:avLst/>
          </a:prstGeom>
        </p:spPr>
      </p:pic>
      <p:sp>
        <p:nvSpPr>
          <p:cNvPr id="12" name="AutoShape 12"/>
          <p:cNvSpPr/>
          <p:nvPr/>
        </p:nvSpPr>
        <p:spPr>
          <a:xfrm>
            <a:off x="1422400" y="4851400"/>
            <a:ext cx="4572000" cy="355600"/>
          </a:xfrm>
          <a:prstGeom prst="rect">
            <a:avLst/>
          </a:prstGeom>
          <a:noFill/>
          <a:ln w="12700" cap="flat" cmpd="sng">
            <a:noFill/>
            <a:prstDash val="solid"/>
            <a:round/>
          </a:ln>
        </p:spPr>
        <p:txBody>
          <a:bodyPr vert="horz" wrap="square" lIns="0" tIns="0" rIns="0" bIns="0" rtlCol="0" anchor="ctr" anchorCtr="0"/>
          <a:lstStyle/>
          <a:p>
            <a:pPr indent="0" algn="l">
              <a:lnSpc>
                <a:spcPct val="133333"/>
              </a:lnSpc>
              <a:defRPr/>
            </a:pPr>
            <a:r>
              <a:rPr lang="en-US" sz="2000" b="1" i="0" u="none" strike="noStrike">
                <a:solidFill>
                  <a:srgbClr val="FFFFFF"/>
                </a:solidFill>
                <a:latin typeface="Roboto"/>
                <a:ea typeface="Roboto"/>
                <a:cs typeface="Roboto"/>
                <a:sym typeface="Roboto"/>
              </a:rPr>
              <a:t>治理效果评估</a:t>
            </a:r>
            <a:endParaRPr lang="en-US" sz="1100"/>
          </a:p>
        </p:txBody>
      </p:sp>
      <p:sp>
        <p:nvSpPr>
          <p:cNvPr id="13" name="AutoShape 13"/>
          <p:cNvSpPr/>
          <p:nvPr/>
        </p:nvSpPr>
        <p:spPr>
          <a:xfrm>
            <a:off x="1422400" y="5181600"/>
            <a:ext cx="4826000" cy="914400"/>
          </a:xfrm>
          <a:prstGeom prst="rect">
            <a:avLst/>
          </a:prstGeom>
          <a:noFill/>
          <a:ln w="12700" cap="flat" cmpd="sng">
            <a:noFill/>
            <a:prstDash val="solid"/>
            <a:round/>
          </a:ln>
        </p:spPr>
        <p:txBody>
          <a:bodyPr vert="horz" wrap="square" lIns="0" tIns="0" rIns="0" bIns="0" rtlCol="0" anchor="t" anchorCtr="0"/>
          <a:lstStyle/>
          <a:p>
            <a:pPr indent="0" algn="l">
              <a:lnSpc>
                <a:spcPct val="150000"/>
              </a:lnSpc>
              <a:defRPr/>
            </a:pPr>
            <a:r>
              <a:rPr lang="en-US" sz="1800" b="0" i="0" u="none" strike="noStrike">
                <a:solidFill>
                  <a:srgbClr val="D1D5DB"/>
                </a:solidFill>
                <a:latin typeface="Roboto"/>
                <a:ea typeface="Roboto"/>
                <a:cs typeface="Roboto"/>
                <a:sym typeface="Roboto"/>
              </a:rPr>
              <a:t>跟踪治理措施实施效果，形成发现-优化-评估的闭环。</a:t>
            </a:r>
            <a:endParaRPr lang="en-US" sz="1100"/>
          </a:p>
        </p:txBody>
      </p:sp>
      <p:cxnSp>
        <p:nvCxnSpPr>
          <p:cNvPr id="14" name="Connector 14"/>
          <p:cNvCxnSpPr/>
          <p:nvPr/>
        </p:nvCxnSpPr>
        <p:spPr>
          <a:xfrm rot="5388910">
            <a:off x="4381489" y="3860821"/>
            <a:ext cx="3937022" cy="12700"/>
          </a:xfrm>
          <a:prstGeom prst="straightConnector1">
            <a:avLst/>
          </a:prstGeom>
          <a:solidFill>
            <a:srgbClr val="DEE0E3">
              <a:alpha val="100000"/>
            </a:srgbClr>
          </a:solidFill>
          <a:ln w="12700" cap="flat" cmpd="sng">
            <a:solidFill>
              <a:srgbClr val="00FFFF">
                <a:alpha val="30000"/>
              </a:srgbClr>
            </a:solidFill>
            <a:prstDash val="dash"/>
            <a:round/>
            <a:headEnd type="none" w="med" len="med"/>
            <a:tailEnd type="none" w="med" len="med"/>
          </a:ln>
        </p:spPr>
      </p:cxnSp>
      <p:sp>
        <p:nvSpPr>
          <p:cNvPr id="15" name="AutoShape 15"/>
          <p:cNvSpPr/>
          <p:nvPr/>
        </p:nvSpPr>
        <p:spPr>
          <a:xfrm>
            <a:off x="6604000" y="1905000"/>
            <a:ext cx="5080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00FFFF"/>
                </a:solidFill>
                <a:latin typeface="Poppins"/>
                <a:ea typeface="Poppins"/>
                <a:cs typeface="Poppins"/>
                <a:sym typeface="Poppins"/>
              </a:rPr>
              <a:t>技术实现</a:t>
            </a:r>
            <a:endParaRPr lang="en-US" sz="1100"/>
          </a:p>
        </p:txBody>
      </p:sp>
      <p:pic>
        <p:nvPicPr>
          <p:cNvPr id="16" name="Picture 16"/>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604000" y="2590800"/>
            <a:ext cx="304800" cy="304800"/>
          </a:xfrm>
          <a:prstGeom prst="rect">
            <a:avLst/>
          </a:prstGeom>
        </p:spPr>
      </p:pic>
      <p:sp>
        <p:nvSpPr>
          <p:cNvPr id="17" name="AutoShape 17"/>
          <p:cNvSpPr/>
          <p:nvPr/>
        </p:nvSpPr>
        <p:spPr>
          <a:xfrm>
            <a:off x="7010400" y="2565400"/>
            <a:ext cx="4572000" cy="355600"/>
          </a:xfrm>
          <a:prstGeom prst="rect">
            <a:avLst/>
          </a:prstGeom>
          <a:noFill/>
          <a:ln w="12700" cap="flat" cmpd="sng">
            <a:noFill/>
            <a:prstDash val="solid"/>
            <a:round/>
          </a:ln>
        </p:spPr>
        <p:txBody>
          <a:bodyPr vert="horz" wrap="square" lIns="0" tIns="0" rIns="0" bIns="0" rtlCol="0" anchor="ctr" anchorCtr="0"/>
          <a:lstStyle/>
          <a:p>
            <a:pPr indent="0" algn="l">
              <a:lnSpc>
                <a:spcPct val="133333"/>
              </a:lnSpc>
              <a:defRPr/>
            </a:pPr>
            <a:r>
              <a:rPr lang="en-US" sz="2000" b="1" i="0" u="none" strike="noStrike">
                <a:solidFill>
                  <a:srgbClr val="FFFFFF"/>
                </a:solidFill>
                <a:latin typeface="Roboto"/>
                <a:ea typeface="Roboto"/>
                <a:cs typeface="Roboto"/>
                <a:sym typeface="Roboto"/>
              </a:rPr>
              <a:t>数据源</a:t>
            </a:r>
            <a:endParaRPr lang="en-US" sz="1100"/>
          </a:p>
        </p:txBody>
      </p:sp>
      <p:sp>
        <p:nvSpPr>
          <p:cNvPr id="18" name="AutoShape 18"/>
          <p:cNvSpPr/>
          <p:nvPr/>
        </p:nvSpPr>
        <p:spPr>
          <a:xfrm>
            <a:off x="7010400" y="2921000"/>
            <a:ext cx="5080000" cy="1016000"/>
          </a:xfrm>
          <a:prstGeom prst="rect">
            <a:avLst/>
          </a:prstGeom>
          <a:noFill/>
          <a:ln w="12700" cap="flat" cmpd="sng">
            <a:noFill/>
            <a:prstDash val="solid"/>
            <a:round/>
          </a:ln>
        </p:spPr>
        <p:txBody>
          <a:bodyPr vert="horz" wrap="square" lIns="0" tIns="0" rIns="0" bIns="0" rtlCol="0" anchor="t" anchorCtr="0"/>
          <a:lstStyle/>
          <a:p>
            <a:pPr indent="0" algn="l">
              <a:lnSpc>
                <a:spcPct val="150000"/>
              </a:lnSpc>
              <a:defRPr/>
            </a:pPr>
            <a:r>
              <a:rPr lang="en-US" sz="1800" b="0" i="0" u="none" strike="noStrike">
                <a:solidFill>
                  <a:srgbClr val="D1D5DB"/>
                </a:solidFill>
                <a:latin typeface="Roboto"/>
                <a:ea typeface="Roboto"/>
                <a:cs typeface="Roboto"/>
                <a:sym typeface="Roboto"/>
              </a:rPr>
              <a:t>通过OpenDigger API获取GitHub/GitLab项目元数据、事件日志和贡献者信息。</a:t>
            </a:r>
            <a:endParaRPr lang="en-US" sz="1100"/>
          </a:p>
        </p:txBody>
      </p:sp>
      <p:pic>
        <p:nvPicPr>
          <p:cNvPr id="19" name="Picture 19"/>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604000" y="3835400"/>
            <a:ext cx="304800" cy="304800"/>
          </a:xfrm>
          <a:prstGeom prst="rect">
            <a:avLst/>
          </a:prstGeom>
        </p:spPr>
      </p:pic>
      <p:sp>
        <p:nvSpPr>
          <p:cNvPr id="20" name="AutoShape 20"/>
          <p:cNvSpPr/>
          <p:nvPr/>
        </p:nvSpPr>
        <p:spPr>
          <a:xfrm>
            <a:off x="7010400" y="3810000"/>
            <a:ext cx="4572000" cy="355600"/>
          </a:xfrm>
          <a:prstGeom prst="rect">
            <a:avLst/>
          </a:prstGeom>
          <a:noFill/>
          <a:ln w="12700" cap="flat" cmpd="sng">
            <a:noFill/>
            <a:prstDash val="solid"/>
            <a:round/>
          </a:ln>
        </p:spPr>
        <p:txBody>
          <a:bodyPr vert="horz" wrap="square" lIns="0" tIns="0" rIns="0" bIns="0" rtlCol="0" anchor="ctr" anchorCtr="0"/>
          <a:lstStyle/>
          <a:p>
            <a:pPr indent="0" algn="l">
              <a:lnSpc>
                <a:spcPct val="133333"/>
              </a:lnSpc>
              <a:defRPr/>
            </a:pPr>
            <a:r>
              <a:rPr lang="en-US" sz="2000" b="1" i="0" u="none" strike="noStrike">
                <a:solidFill>
                  <a:srgbClr val="FFFFFF"/>
                </a:solidFill>
                <a:latin typeface="Roboto"/>
                <a:ea typeface="Roboto"/>
                <a:cs typeface="Roboto"/>
                <a:sym typeface="Roboto"/>
              </a:rPr>
              <a:t>分析引擎</a:t>
            </a:r>
            <a:endParaRPr lang="en-US" sz="1100"/>
          </a:p>
        </p:txBody>
      </p:sp>
      <p:sp>
        <p:nvSpPr>
          <p:cNvPr id="21" name="AutoShape 21"/>
          <p:cNvSpPr/>
          <p:nvPr/>
        </p:nvSpPr>
        <p:spPr>
          <a:xfrm>
            <a:off x="7010400" y="4140200"/>
            <a:ext cx="5080000" cy="1016000"/>
          </a:xfrm>
          <a:prstGeom prst="rect">
            <a:avLst/>
          </a:prstGeom>
          <a:noFill/>
          <a:ln w="12700" cap="flat" cmpd="sng">
            <a:noFill/>
            <a:prstDash val="solid"/>
            <a:round/>
          </a:ln>
        </p:spPr>
        <p:txBody>
          <a:bodyPr vert="horz" wrap="square" lIns="0" tIns="0" rIns="0" bIns="0" rtlCol="0" anchor="t" anchorCtr="0"/>
          <a:lstStyle/>
          <a:p>
            <a:pPr indent="0" algn="l">
              <a:lnSpc>
                <a:spcPct val="150000"/>
              </a:lnSpc>
              <a:defRPr/>
            </a:pPr>
            <a:r>
              <a:rPr lang="en-US" sz="1800" b="0" i="0" u="none" strike="noStrike">
                <a:solidFill>
                  <a:srgbClr val="D1D5DB"/>
                </a:solidFill>
                <a:latin typeface="Roboto"/>
                <a:ea typeface="Roboto"/>
                <a:cs typeface="Roboto"/>
                <a:sym typeface="Roboto"/>
              </a:rPr>
              <a:t>采用Python进行数据处理，利用Pandas清洗转换，通过SQL进行结构化数据存储。</a:t>
            </a:r>
            <a:endParaRPr lang="en-US" sz="1100"/>
          </a:p>
        </p:txBody>
      </p:sp>
      <p:pic>
        <p:nvPicPr>
          <p:cNvPr id="22" name="Picture 22"/>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604000" y="5080000"/>
            <a:ext cx="304800" cy="304800"/>
          </a:xfrm>
          <a:prstGeom prst="rect">
            <a:avLst/>
          </a:prstGeom>
        </p:spPr>
      </p:pic>
      <p:sp>
        <p:nvSpPr>
          <p:cNvPr id="23" name="AutoShape 23"/>
          <p:cNvSpPr/>
          <p:nvPr/>
        </p:nvSpPr>
        <p:spPr>
          <a:xfrm>
            <a:off x="7010400" y="5054600"/>
            <a:ext cx="4572000" cy="355600"/>
          </a:xfrm>
          <a:prstGeom prst="rect">
            <a:avLst/>
          </a:prstGeom>
          <a:noFill/>
          <a:ln w="12700" cap="flat" cmpd="sng">
            <a:noFill/>
            <a:prstDash val="solid"/>
            <a:round/>
          </a:ln>
        </p:spPr>
        <p:txBody>
          <a:bodyPr vert="horz" wrap="square" lIns="0" tIns="0" rIns="0" bIns="0" rtlCol="0" anchor="ctr" anchorCtr="0"/>
          <a:lstStyle/>
          <a:p>
            <a:pPr indent="0" algn="l">
              <a:lnSpc>
                <a:spcPct val="133333"/>
              </a:lnSpc>
              <a:defRPr/>
            </a:pPr>
            <a:r>
              <a:rPr lang="en-US" sz="2000" b="1" i="0" u="none" strike="noStrike">
                <a:solidFill>
                  <a:srgbClr val="FFFFFF"/>
                </a:solidFill>
                <a:latin typeface="Roboto"/>
                <a:ea typeface="Roboto"/>
                <a:cs typeface="Roboto"/>
                <a:sym typeface="Roboto"/>
              </a:rPr>
              <a:t>治理建议</a:t>
            </a:r>
            <a:endParaRPr lang="en-US" sz="1100"/>
          </a:p>
        </p:txBody>
      </p:sp>
      <p:sp>
        <p:nvSpPr>
          <p:cNvPr id="24" name="AutoShape 24"/>
          <p:cNvSpPr/>
          <p:nvPr/>
        </p:nvSpPr>
        <p:spPr>
          <a:xfrm>
            <a:off x="7010400" y="5384800"/>
            <a:ext cx="5080000" cy="1219200"/>
          </a:xfrm>
          <a:prstGeom prst="rect">
            <a:avLst/>
          </a:prstGeom>
          <a:noFill/>
          <a:ln w="12700" cap="flat" cmpd="sng">
            <a:noFill/>
            <a:prstDash val="solid"/>
            <a:round/>
          </a:ln>
        </p:spPr>
        <p:txBody>
          <a:bodyPr vert="horz" wrap="square" lIns="0" tIns="0" rIns="0" bIns="0" rtlCol="0" anchor="t" anchorCtr="0"/>
          <a:lstStyle/>
          <a:p>
            <a:pPr indent="0" algn="l">
              <a:lnSpc>
                <a:spcPct val="150000"/>
              </a:lnSpc>
              <a:defRPr/>
            </a:pPr>
            <a:r>
              <a:rPr lang="en-US" sz="1800" b="0" i="0" u="none" strike="noStrike">
                <a:solidFill>
                  <a:srgbClr val="D1D5DB"/>
                </a:solidFill>
                <a:latin typeface="Roboto"/>
                <a:ea typeface="Roboto"/>
                <a:cs typeface="Roboto"/>
                <a:sym typeface="Roboto"/>
              </a:rPr>
              <a:t>基于规则引擎和机器学习模型，对分析结果进行模式识别，生成自然语言建议。</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0A14">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alphaModFix amt="20000"/>
            <a:extLst>
              <a:ext uri="{BEBA8EAE-BF5A-486C-A8C5-ECC9F3942E4B}">
                <a14:imgProps xmlns:a14="http://schemas.microsoft.com/office/drawing/2010/main">
                  <a14:imgLayer r:embed="rId4">
                    <a14:imgEffect>
                      <a14:sharpenSoften amount="13000"/>
                    </a14:imgEffect>
                    <a14:imgEffect>
                      <a14:colorTemperature colorTemp="5282"/>
                    </a14:imgEffect>
                    <a14:imgEffect>
                      <a14:saturation sat="266000"/>
                    </a14:imgEffect>
                    <a14:imgEffect>
                      <a14:brightnessContrast bright="41000" contrast="6000"/>
                    </a14:imgEffect>
                  </a14:imgLayer>
                </a14:imgProps>
              </a:ext>
            </a:extLst>
          </a:blip>
          <a:srcRect t="21875" b="21875"/>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1016000" y="508000"/>
            <a:ext cx="8890000" cy="914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800" i="0" u="none" strike="noStrike" dirty="0" err="1">
                <a:solidFill>
                  <a:srgbClr val="FFFFFF"/>
                </a:solidFill>
                <a:latin typeface="方正粗黑宋简体" panose="02000000000000000000" pitchFamily="2" charset="-122"/>
                <a:ea typeface="方正粗黑宋简体" panose="02000000000000000000" pitchFamily="2" charset="-122"/>
                <a:cs typeface="Poppins"/>
                <a:sym typeface="Poppins"/>
              </a:rPr>
              <a:t>创新点与竞争优势</a:t>
            </a:r>
            <a:endParaRPr lang="en-US" sz="1100" dirty="0">
              <a:latin typeface="方正粗黑宋简体" panose="02000000000000000000" pitchFamily="2" charset="-122"/>
              <a:ea typeface="方正粗黑宋简体" panose="02000000000000000000" pitchFamily="2" charset="-122"/>
            </a:endParaRPr>
          </a:p>
        </p:txBody>
      </p:sp>
      <p:cxnSp>
        <p:nvCxnSpPr>
          <p:cNvPr id="4" name="Connector 4"/>
          <p:cNvCxnSpPr/>
          <p:nvPr/>
        </p:nvCxnSpPr>
        <p:spPr>
          <a:xfrm rot="-4297">
            <a:off x="1016004" y="1644650"/>
            <a:ext cx="10160000" cy="12700"/>
          </a:xfrm>
          <a:prstGeom prst="straightConnector1">
            <a:avLst/>
          </a:prstGeom>
          <a:solidFill>
            <a:srgbClr val="DEE0E3">
              <a:alpha val="100000"/>
            </a:srgbClr>
          </a:solidFill>
          <a:ln w="12700" cap="flat" cmpd="sng">
            <a:solidFill>
              <a:srgbClr val="00FFFF">
                <a:alpha val="50000"/>
              </a:srgbClr>
            </a:solidFill>
            <a:prstDash val="solid"/>
            <a:round/>
            <a:headEnd type="none" w="med" len="med"/>
            <a:tailEnd type="none" w="med" len="med"/>
          </a:ln>
        </p:spPr>
      </p:cxnSp>
      <p:sp>
        <p:nvSpPr>
          <p:cNvPr id="5" name="AutoShape 5"/>
          <p:cNvSpPr/>
          <p:nvPr/>
        </p:nvSpPr>
        <p:spPr>
          <a:xfrm>
            <a:off x="1016000" y="1778000"/>
            <a:ext cx="482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00FFFF"/>
                </a:solidFill>
                <a:latin typeface="Poppins"/>
                <a:ea typeface="Poppins"/>
                <a:cs typeface="Poppins"/>
                <a:sym typeface="Poppins"/>
              </a:rPr>
              <a:t>创新点</a:t>
            </a:r>
            <a:endParaRPr lang="en-US" sz="1100"/>
          </a:p>
        </p:txBody>
      </p:sp>
      <p:sp>
        <p:nvSpPr>
          <p:cNvPr id="6" name="AutoShape 6"/>
          <p:cNvSpPr/>
          <p:nvPr/>
        </p:nvSpPr>
        <p:spPr>
          <a:xfrm>
            <a:off x="1016000" y="2286000"/>
            <a:ext cx="4572000" cy="1016000"/>
          </a:xfrm>
          <a:prstGeom prst="rect">
            <a:avLst/>
          </a:prstGeom>
          <a:noFill/>
          <a:ln w="12700" cap="flat" cmpd="sng">
            <a:noFill/>
            <a:prstDash val="solid"/>
            <a:round/>
          </a:ln>
        </p:spPr>
        <p:txBody>
          <a:bodyPr vert="horz" wrap="square" lIns="0" tIns="0" rIns="0" bIns="0" rtlCol="0" anchor="t" anchorCtr="0"/>
          <a:lstStyle/>
          <a:p>
            <a:pPr marL="228600" indent="-228600" algn="l">
              <a:lnSpc>
                <a:spcPct val="133333"/>
              </a:lnSpc>
              <a:buClr>
                <a:srgbClr val="FFFFFF"/>
              </a:buClr>
              <a:buChar char="•"/>
              <a:defRPr/>
            </a:pPr>
            <a:r>
              <a:rPr lang="en-US" sz="1800" b="0" i="0" u="none" strike="noStrike" dirty="0">
                <a:solidFill>
                  <a:srgbClr val="FFFFFF"/>
                </a:solidFill>
                <a:latin typeface="Roboto"/>
                <a:ea typeface="Roboto"/>
                <a:cs typeface="Roboto"/>
                <a:sym typeface="Roboto"/>
              </a:rPr>
              <a:t>开源治理数据化：首次将治理指标系统化、数据化，构建包含5个一级指标的评估体系。</a:t>
            </a:r>
            <a:endParaRPr lang="en-US" sz="1100" dirty="0"/>
          </a:p>
        </p:txBody>
      </p:sp>
      <p:sp>
        <p:nvSpPr>
          <p:cNvPr id="7" name="AutoShape 7"/>
          <p:cNvSpPr/>
          <p:nvPr/>
        </p:nvSpPr>
        <p:spPr>
          <a:xfrm>
            <a:off x="-12700000" y="-12700000"/>
            <a:ext cx="12700" cy="12700"/>
          </a:xfrm>
          <a:prstGeom prst="rect">
            <a:avLst/>
          </a:prstGeom>
          <a:noFill/>
          <a:ln w="12700" cap="flat" cmpd="sng">
            <a:noFill/>
            <a:prstDash val="solid"/>
            <a:round/>
          </a:ln>
        </p:spPr>
        <p:txBody>
          <a:bodyPr vert="horz" wrap="square" lIns="0" tIns="0" rIns="0" bIns="0" rtlCol="0" anchor="ctr" anchorCtr="0"/>
          <a:lstStyle/>
          <a:p>
            <a:pPr algn="l">
              <a:defRPr/>
            </a:pPr>
            <a:endParaRPr/>
          </a:p>
        </p:txBody>
      </p:sp>
      <p:sp>
        <p:nvSpPr>
          <p:cNvPr id="8" name="AutoShape 8"/>
          <p:cNvSpPr/>
          <p:nvPr/>
        </p:nvSpPr>
        <p:spPr>
          <a:xfrm>
            <a:off x="-12700000" y="-12700000"/>
            <a:ext cx="12700" cy="12700"/>
          </a:xfrm>
          <a:prstGeom prst="rect">
            <a:avLst/>
          </a:prstGeom>
          <a:noFill/>
          <a:ln w="12700" cap="flat" cmpd="sng">
            <a:noFill/>
            <a:prstDash val="solid"/>
            <a:round/>
          </a:ln>
        </p:spPr>
        <p:txBody>
          <a:bodyPr vert="horz" wrap="square" lIns="0" tIns="0" rIns="0" bIns="0" rtlCol="0" anchor="ctr" anchorCtr="0"/>
          <a:lstStyle/>
          <a:p>
            <a:pPr algn="l">
              <a:defRPr/>
            </a:pPr>
            <a:endParaRPr/>
          </a:p>
        </p:txBody>
      </p:sp>
      <p:sp>
        <p:nvSpPr>
          <p:cNvPr id="9" name="AutoShape 9"/>
          <p:cNvSpPr/>
          <p:nvPr/>
        </p:nvSpPr>
        <p:spPr>
          <a:xfrm>
            <a:off x="1016000" y="3492500"/>
            <a:ext cx="4572000" cy="1143000"/>
          </a:xfrm>
          <a:prstGeom prst="rect">
            <a:avLst/>
          </a:prstGeom>
          <a:noFill/>
          <a:ln w="12700" cap="flat" cmpd="sng">
            <a:noFill/>
            <a:prstDash val="solid"/>
            <a:round/>
          </a:ln>
        </p:spPr>
        <p:txBody>
          <a:bodyPr vert="horz" wrap="square" lIns="0" tIns="0" rIns="0" bIns="0" rtlCol="0" anchor="t" anchorCtr="0"/>
          <a:lstStyle/>
          <a:p>
            <a:pPr marL="228600" indent="-228600" algn="l">
              <a:lnSpc>
                <a:spcPct val="133333"/>
              </a:lnSpc>
              <a:buClr>
                <a:srgbClr val="FFFFFF"/>
              </a:buClr>
              <a:buChar char="•"/>
              <a:defRPr/>
            </a:pPr>
            <a:r>
              <a:rPr lang="en-US" sz="1800" b="0" i="0" u="none" strike="noStrike">
                <a:solidFill>
                  <a:srgbClr val="FFFFFF"/>
                </a:solidFill>
                <a:latin typeface="Roboto"/>
                <a:ea typeface="Roboto"/>
                <a:cs typeface="Roboto"/>
                <a:sym typeface="Roboto"/>
              </a:rPr>
              <a:t>人机融合决策：集成DeepSeek大模型，通过Prompt Engineering技术进行数据分析与治理建议生成。</a:t>
            </a:r>
            <a:endParaRPr lang="en-US" sz="1100"/>
          </a:p>
        </p:txBody>
      </p:sp>
      <p:sp>
        <p:nvSpPr>
          <p:cNvPr id="10" name="AutoShape 10"/>
          <p:cNvSpPr/>
          <p:nvPr/>
        </p:nvSpPr>
        <p:spPr>
          <a:xfrm>
            <a:off x="-12700000" y="-12700000"/>
            <a:ext cx="12700" cy="12700"/>
          </a:xfrm>
          <a:prstGeom prst="rect">
            <a:avLst/>
          </a:prstGeom>
          <a:noFill/>
          <a:ln w="12700" cap="flat" cmpd="sng">
            <a:noFill/>
            <a:prstDash val="solid"/>
            <a:round/>
          </a:ln>
        </p:spPr>
        <p:txBody>
          <a:bodyPr vert="horz" wrap="square" lIns="0" tIns="0" rIns="0" bIns="0" rtlCol="0" anchor="ctr" anchorCtr="0"/>
          <a:lstStyle/>
          <a:p>
            <a:pPr algn="l">
              <a:defRPr/>
            </a:pPr>
            <a:endParaRPr/>
          </a:p>
        </p:txBody>
      </p:sp>
      <p:sp>
        <p:nvSpPr>
          <p:cNvPr id="11" name="AutoShape 11"/>
          <p:cNvSpPr/>
          <p:nvPr/>
        </p:nvSpPr>
        <p:spPr>
          <a:xfrm>
            <a:off x="-12700000" y="-12700000"/>
            <a:ext cx="12700" cy="12700"/>
          </a:xfrm>
          <a:prstGeom prst="rect">
            <a:avLst/>
          </a:prstGeom>
          <a:noFill/>
          <a:ln w="12700" cap="flat" cmpd="sng">
            <a:noFill/>
            <a:prstDash val="solid"/>
            <a:round/>
          </a:ln>
        </p:spPr>
        <p:txBody>
          <a:bodyPr vert="horz" wrap="square" lIns="0" tIns="0" rIns="0" bIns="0" rtlCol="0" anchor="ctr" anchorCtr="0"/>
          <a:lstStyle/>
          <a:p>
            <a:pPr algn="l">
              <a:defRPr/>
            </a:pPr>
            <a:endParaRPr/>
          </a:p>
        </p:txBody>
      </p:sp>
      <p:sp>
        <p:nvSpPr>
          <p:cNvPr id="12" name="AutoShape 12"/>
          <p:cNvSpPr/>
          <p:nvPr/>
        </p:nvSpPr>
        <p:spPr>
          <a:xfrm>
            <a:off x="1016000" y="4826000"/>
            <a:ext cx="4572000" cy="1016000"/>
          </a:xfrm>
          <a:prstGeom prst="rect">
            <a:avLst/>
          </a:prstGeom>
          <a:noFill/>
          <a:ln w="12700" cap="flat" cmpd="sng">
            <a:noFill/>
            <a:prstDash val="solid"/>
            <a:round/>
          </a:ln>
        </p:spPr>
        <p:txBody>
          <a:bodyPr vert="horz" wrap="square" lIns="0" tIns="0" rIns="0" bIns="0" rtlCol="0" anchor="t" anchorCtr="0"/>
          <a:lstStyle/>
          <a:p>
            <a:pPr marL="228600" indent="-228600" algn="l">
              <a:lnSpc>
                <a:spcPct val="133333"/>
              </a:lnSpc>
              <a:buClr>
                <a:srgbClr val="FFFFFF"/>
              </a:buClr>
              <a:buChar char="•"/>
              <a:defRPr/>
            </a:pPr>
            <a:r>
              <a:rPr lang="en-US" sz="1800" b="0" i="0" u="none" strike="noStrike">
                <a:solidFill>
                  <a:srgbClr val="FFFFFF"/>
                </a:solidFill>
                <a:latin typeface="Roboto"/>
                <a:ea typeface="Roboto"/>
                <a:cs typeface="Roboto"/>
                <a:sym typeface="Roboto"/>
              </a:rPr>
              <a:t>构建运营一体化框架：提供从治理洞察到运营执行的一体化框架，有机结合治理与运营。</a:t>
            </a:r>
            <a:endParaRPr lang="en-US" sz="1100"/>
          </a:p>
        </p:txBody>
      </p:sp>
      <p:sp>
        <p:nvSpPr>
          <p:cNvPr id="13" name="AutoShape 13"/>
          <p:cNvSpPr/>
          <p:nvPr/>
        </p:nvSpPr>
        <p:spPr>
          <a:xfrm>
            <a:off x="-12700000" y="-12700000"/>
            <a:ext cx="12700" cy="12700"/>
          </a:xfrm>
          <a:prstGeom prst="rect">
            <a:avLst/>
          </a:prstGeom>
          <a:noFill/>
          <a:ln w="12700" cap="flat" cmpd="sng">
            <a:noFill/>
            <a:prstDash val="solid"/>
            <a:round/>
          </a:ln>
        </p:spPr>
        <p:txBody>
          <a:bodyPr vert="horz" wrap="square" lIns="0" tIns="0" rIns="0" bIns="0" rtlCol="0" anchor="ctr" anchorCtr="0"/>
          <a:lstStyle/>
          <a:p>
            <a:pPr algn="l">
              <a:defRPr/>
            </a:pPr>
            <a:endParaRPr/>
          </a:p>
        </p:txBody>
      </p:sp>
      <p:sp>
        <p:nvSpPr>
          <p:cNvPr id="14" name="AutoShape 14"/>
          <p:cNvSpPr/>
          <p:nvPr/>
        </p:nvSpPr>
        <p:spPr>
          <a:xfrm>
            <a:off x="-12700000" y="-12700000"/>
            <a:ext cx="12700" cy="12700"/>
          </a:xfrm>
          <a:prstGeom prst="rect">
            <a:avLst/>
          </a:prstGeom>
          <a:noFill/>
          <a:ln w="12700" cap="flat" cmpd="sng">
            <a:noFill/>
            <a:prstDash val="solid"/>
            <a:round/>
          </a:ln>
        </p:spPr>
        <p:txBody>
          <a:bodyPr vert="horz" wrap="square" lIns="0" tIns="0" rIns="0" bIns="0" rtlCol="0" anchor="ctr" anchorCtr="0"/>
          <a:lstStyle/>
          <a:p>
            <a:pPr algn="l">
              <a:defRPr/>
            </a:pPr>
            <a:endParaRPr/>
          </a:p>
        </p:txBody>
      </p:sp>
      <p:cxnSp>
        <p:nvCxnSpPr>
          <p:cNvPr id="15" name="Connector 15"/>
          <p:cNvCxnSpPr/>
          <p:nvPr/>
        </p:nvCxnSpPr>
        <p:spPr>
          <a:xfrm rot="5388910">
            <a:off x="4127500" y="3994160"/>
            <a:ext cx="3937000" cy="12700"/>
          </a:xfrm>
          <a:prstGeom prst="straightConnector1">
            <a:avLst/>
          </a:prstGeom>
          <a:solidFill>
            <a:srgbClr val="DEE0E3">
              <a:alpha val="100000"/>
            </a:srgbClr>
          </a:solidFill>
          <a:ln w="12700" cap="flat" cmpd="sng">
            <a:solidFill>
              <a:srgbClr val="00FFFF">
                <a:alpha val="50000"/>
              </a:srgbClr>
            </a:solidFill>
            <a:prstDash val="solid"/>
            <a:round/>
            <a:headEnd type="none" w="med" len="med"/>
            <a:tailEnd type="none" w="med" len="med"/>
          </a:ln>
        </p:spPr>
      </p:cxnSp>
      <p:sp>
        <p:nvSpPr>
          <p:cNvPr id="16" name="AutoShape 16"/>
          <p:cNvSpPr/>
          <p:nvPr/>
        </p:nvSpPr>
        <p:spPr>
          <a:xfrm>
            <a:off x="6604000" y="1778000"/>
            <a:ext cx="482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00FFFF"/>
                </a:solidFill>
                <a:latin typeface="Poppins"/>
                <a:ea typeface="Poppins"/>
                <a:cs typeface="Poppins"/>
                <a:sym typeface="Poppins"/>
              </a:rPr>
              <a:t>竞争优势</a:t>
            </a:r>
            <a:endParaRPr lang="en-US" sz="1100"/>
          </a:p>
        </p:txBody>
      </p:sp>
      <p:sp>
        <p:nvSpPr>
          <p:cNvPr id="17" name="AutoShape 17"/>
          <p:cNvSpPr/>
          <p:nvPr/>
        </p:nvSpPr>
        <p:spPr>
          <a:xfrm>
            <a:off x="6604000" y="2286000"/>
            <a:ext cx="4572000" cy="1143000"/>
          </a:xfrm>
          <a:prstGeom prst="rect">
            <a:avLst/>
          </a:prstGeom>
          <a:noFill/>
          <a:ln w="12700" cap="flat" cmpd="sng">
            <a:noFill/>
            <a:prstDash val="solid"/>
            <a:round/>
          </a:ln>
        </p:spPr>
        <p:txBody>
          <a:bodyPr vert="horz" wrap="square" lIns="0" tIns="0" rIns="0" bIns="0" rtlCol="0" anchor="t" anchorCtr="0"/>
          <a:lstStyle/>
          <a:p>
            <a:pPr marL="215900" indent="-215900" algn="l">
              <a:lnSpc>
                <a:spcPct val="133333"/>
              </a:lnSpc>
              <a:buClr>
                <a:srgbClr val="FFFFFF"/>
              </a:buClr>
              <a:buChar char="•"/>
              <a:defRPr/>
            </a:pPr>
            <a:r>
              <a:rPr lang="en-US" sz="1700" b="0" i="0" u="none" strike="noStrike">
                <a:solidFill>
                  <a:srgbClr val="FFFFFF"/>
                </a:solidFill>
                <a:latin typeface="Roboto"/>
                <a:ea typeface="Roboto"/>
                <a:cs typeface="Roboto"/>
                <a:sym typeface="Roboto"/>
              </a:rPr>
              <a:t>互补增强：与OpenDigger互补，提供分析、决策和运营闭环，增强上层应用治理分析能力。</a:t>
            </a:r>
            <a:endParaRPr lang="en-US" sz="1100"/>
          </a:p>
        </p:txBody>
      </p:sp>
      <p:sp>
        <p:nvSpPr>
          <p:cNvPr id="18" name="AutoShape 18"/>
          <p:cNvSpPr/>
          <p:nvPr/>
        </p:nvSpPr>
        <p:spPr>
          <a:xfrm>
            <a:off x="-12700000" y="-12700000"/>
            <a:ext cx="12700" cy="12700"/>
          </a:xfrm>
          <a:prstGeom prst="rect">
            <a:avLst/>
          </a:prstGeom>
          <a:noFill/>
          <a:ln w="12700" cap="flat" cmpd="sng">
            <a:noFill/>
            <a:prstDash val="solid"/>
            <a:round/>
          </a:ln>
        </p:spPr>
        <p:txBody>
          <a:bodyPr vert="horz" wrap="square" lIns="0" tIns="0" rIns="0" bIns="0" rtlCol="0" anchor="ctr" anchorCtr="0"/>
          <a:lstStyle/>
          <a:p>
            <a:pPr algn="l">
              <a:defRPr/>
            </a:pPr>
            <a:endParaRPr/>
          </a:p>
        </p:txBody>
      </p:sp>
      <p:sp>
        <p:nvSpPr>
          <p:cNvPr id="19" name="AutoShape 19"/>
          <p:cNvSpPr/>
          <p:nvPr/>
        </p:nvSpPr>
        <p:spPr>
          <a:xfrm>
            <a:off x="-12700000" y="-12700000"/>
            <a:ext cx="12700" cy="12700"/>
          </a:xfrm>
          <a:prstGeom prst="rect">
            <a:avLst/>
          </a:prstGeom>
          <a:noFill/>
          <a:ln w="12700" cap="flat" cmpd="sng">
            <a:noFill/>
            <a:prstDash val="solid"/>
            <a:round/>
          </a:ln>
        </p:spPr>
        <p:txBody>
          <a:bodyPr vert="horz" wrap="square" lIns="0" tIns="0" rIns="0" bIns="0" rtlCol="0" anchor="ctr" anchorCtr="0"/>
          <a:lstStyle/>
          <a:p>
            <a:pPr algn="l">
              <a:defRPr/>
            </a:pPr>
            <a:endParaRPr/>
          </a:p>
        </p:txBody>
      </p:sp>
      <p:sp>
        <p:nvSpPr>
          <p:cNvPr id="20" name="AutoShape 20"/>
          <p:cNvSpPr/>
          <p:nvPr/>
        </p:nvSpPr>
        <p:spPr>
          <a:xfrm>
            <a:off x="6604000" y="3429000"/>
            <a:ext cx="4572000" cy="889000"/>
          </a:xfrm>
          <a:prstGeom prst="rect">
            <a:avLst/>
          </a:prstGeom>
          <a:noFill/>
          <a:ln w="12700" cap="flat" cmpd="sng">
            <a:noFill/>
            <a:prstDash val="solid"/>
            <a:round/>
          </a:ln>
        </p:spPr>
        <p:txBody>
          <a:bodyPr vert="horz" wrap="square" lIns="0" tIns="0" rIns="0" bIns="0" rtlCol="0" anchor="t" anchorCtr="0"/>
          <a:lstStyle/>
          <a:p>
            <a:pPr marL="215900" indent="-215900" algn="l">
              <a:lnSpc>
                <a:spcPct val="133333"/>
              </a:lnSpc>
              <a:buClr>
                <a:srgbClr val="FFFFFF"/>
              </a:buClr>
              <a:buChar char="•"/>
              <a:defRPr/>
            </a:pPr>
            <a:r>
              <a:rPr lang="en-US" sz="1700" b="0" i="0" u="none" strike="noStrike">
                <a:solidFill>
                  <a:srgbClr val="FFFFFF"/>
                </a:solidFill>
                <a:latin typeface="Roboto"/>
                <a:ea typeface="Roboto"/>
                <a:cs typeface="Roboto"/>
                <a:sym typeface="Roboto"/>
              </a:rPr>
              <a:t>场景专注：专注治理与运营场景，填补市场空白。</a:t>
            </a:r>
            <a:endParaRPr lang="en-US" sz="1100"/>
          </a:p>
        </p:txBody>
      </p:sp>
      <p:sp>
        <p:nvSpPr>
          <p:cNvPr id="21" name="AutoShape 21"/>
          <p:cNvSpPr/>
          <p:nvPr/>
        </p:nvSpPr>
        <p:spPr>
          <a:xfrm>
            <a:off x="-12700000" y="-12700000"/>
            <a:ext cx="12700" cy="12700"/>
          </a:xfrm>
          <a:prstGeom prst="rect">
            <a:avLst/>
          </a:prstGeom>
          <a:noFill/>
          <a:ln w="12700" cap="flat" cmpd="sng">
            <a:noFill/>
            <a:prstDash val="solid"/>
            <a:round/>
          </a:ln>
        </p:spPr>
        <p:txBody>
          <a:bodyPr vert="horz" wrap="square" lIns="0" tIns="0" rIns="0" bIns="0" rtlCol="0" anchor="ctr" anchorCtr="0"/>
          <a:lstStyle/>
          <a:p>
            <a:pPr algn="l">
              <a:defRPr/>
            </a:pPr>
            <a:endParaRPr/>
          </a:p>
        </p:txBody>
      </p:sp>
      <p:sp>
        <p:nvSpPr>
          <p:cNvPr id="22" name="AutoShape 22"/>
          <p:cNvSpPr/>
          <p:nvPr/>
        </p:nvSpPr>
        <p:spPr>
          <a:xfrm>
            <a:off x="-12700000" y="-12700000"/>
            <a:ext cx="12700" cy="12700"/>
          </a:xfrm>
          <a:prstGeom prst="rect">
            <a:avLst/>
          </a:prstGeom>
          <a:noFill/>
          <a:ln w="12700" cap="flat" cmpd="sng">
            <a:noFill/>
            <a:prstDash val="solid"/>
            <a:round/>
          </a:ln>
        </p:spPr>
        <p:txBody>
          <a:bodyPr vert="horz" wrap="square" lIns="0" tIns="0" rIns="0" bIns="0" rtlCol="0" anchor="ctr" anchorCtr="0"/>
          <a:lstStyle/>
          <a:p>
            <a:pPr algn="l">
              <a:defRPr/>
            </a:pPr>
            <a:endParaRPr/>
          </a:p>
        </p:txBody>
      </p:sp>
      <p:sp>
        <p:nvSpPr>
          <p:cNvPr id="23" name="AutoShape 23"/>
          <p:cNvSpPr/>
          <p:nvPr/>
        </p:nvSpPr>
        <p:spPr>
          <a:xfrm>
            <a:off x="6604000" y="4381500"/>
            <a:ext cx="4572000" cy="1143000"/>
          </a:xfrm>
          <a:prstGeom prst="rect">
            <a:avLst/>
          </a:prstGeom>
          <a:noFill/>
          <a:ln w="12700" cap="flat" cmpd="sng">
            <a:noFill/>
            <a:prstDash val="solid"/>
            <a:round/>
          </a:ln>
        </p:spPr>
        <p:txBody>
          <a:bodyPr vert="horz" wrap="square" lIns="0" tIns="0" rIns="0" bIns="0" rtlCol="0" anchor="t" anchorCtr="0"/>
          <a:lstStyle/>
          <a:p>
            <a:pPr marL="215900" indent="-215900" algn="l">
              <a:lnSpc>
                <a:spcPct val="133333"/>
              </a:lnSpc>
              <a:buClr>
                <a:srgbClr val="FFFFFF"/>
              </a:buClr>
              <a:buChar char="•"/>
              <a:defRPr/>
            </a:pPr>
            <a:r>
              <a:rPr lang="en-US" sz="1700" b="0" i="0" u="none" strike="noStrike">
                <a:solidFill>
                  <a:srgbClr val="FFFFFF"/>
                </a:solidFill>
                <a:latin typeface="Roboto"/>
                <a:ea typeface="Roboto"/>
                <a:cs typeface="Roboto"/>
                <a:sym typeface="Roboto"/>
              </a:rPr>
              <a:t>开源可扩展：基于Python/Streamlit构建，前后端分离，支持Docker容器化部署，易于二次开发。</a:t>
            </a:r>
            <a:endParaRPr lang="en-US" sz="1100"/>
          </a:p>
        </p:txBody>
      </p:sp>
      <p:sp>
        <p:nvSpPr>
          <p:cNvPr id="24" name="AutoShape 24"/>
          <p:cNvSpPr/>
          <p:nvPr/>
        </p:nvSpPr>
        <p:spPr>
          <a:xfrm>
            <a:off x="-12700000" y="-12700000"/>
            <a:ext cx="12700" cy="12700"/>
          </a:xfrm>
          <a:prstGeom prst="rect">
            <a:avLst/>
          </a:prstGeom>
          <a:noFill/>
          <a:ln w="12700" cap="flat" cmpd="sng">
            <a:noFill/>
            <a:prstDash val="solid"/>
            <a:round/>
          </a:ln>
        </p:spPr>
        <p:txBody>
          <a:bodyPr vert="horz" wrap="square" lIns="0" tIns="0" rIns="0" bIns="0" rtlCol="0" anchor="ctr" anchorCtr="0"/>
          <a:lstStyle/>
          <a:p>
            <a:pPr algn="l">
              <a:defRPr/>
            </a:pPr>
            <a:endParaRPr/>
          </a:p>
        </p:txBody>
      </p:sp>
      <p:sp>
        <p:nvSpPr>
          <p:cNvPr id="25" name="AutoShape 25"/>
          <p:cNvSpPr/>
          <p:nvPr/>
        </p:nvSpPr>
        <p:spPr>
          <a:xfrm>
            <a:off x="-12700000" y="-12700000"/>
            <a:ext cx="12700" cy="12700"/>
          </a:xfrm>
          <a:prstGeom prst="rect">
            <a:avLst/>
          </a:prstGeom>
          <a:noFill/>
          <a:ln w="12700" cap="flat" cmpd="sng">
            <a:noFill/>
            <a:prstDash val="solid"/>
            <a:round/>
          </a:ln>
        </p:spPr>
        <p:txBody>
          <a:bodyPr vert="horz" wrap="square" lIns="0" tIns="0" rIns="0" bIns="0" rtlCol="0" anchor="ctr" anchorCtr="0"/>
          <a:lstStyle/>
          <a:p>
            <a:pPr algn="l">
              <a:defRPr/>
            </a:pPr>
            <a:endParaRPr/>
          </a:p>
        </p:txBody>
      </p:sp>
      <p:sp>
        <p:nvSpPr>
          <p:cNvPr id="26" name="AutoShape 26"/>
          <p:cNvSpPr/>
          <p:nvPr/>
        </p:nvSpPr>
        <p:spPr>
          <a:xfrm>
            <a:off x="6604000" y="5588000"/>
            <a:ext cx="4572000" cy="889000"/>
          </a:xfrm>
          <a:prstGeom prst="rect">
            <a:avLst/>
          </a:prstGeom>
          <a:noFill/>
          <a:ln w="12700" cap="flat" cmpd="sng">
            <a:noFill/>
            <a:prstDash val="solid"/>
            <a:round/>
          </a:ln>
        </p:spPr>
        <p:txBody>
          <a:bodyPr vert="horz" wrap="square" lIns="0" tIns="0" rIns="0" bIns="0" rtlCol="0" anchor="t" anchorCtr="0"/>
          <a:lstStyle/>
          <a:p>
            <a:pPr marL="215900" indent="-215900" algn="l">
              <a:lnSpc>
                <a:spcPct val="133333"/>
              </a:lnSpc>
              <a:buClr>
                <a:srgbClr val="FFFFFF"/>
              </a:buClr>
              <a:buChar char="•"/>
              <a:defRPr/>
            </a:pPr>
            <a:r>
              <a:rPr lang="en-US" sz="1700" b="0" i="0" u="none" strike="noStrike">
                <a:solidFill>
                  <a:srgbClr val="FFFFFF"/>
                </a:solidFill>
                <a:latin typeface="Roboto"/>
                <a:ea typeface="Roboto"/>
                <a:cs typeface="Roboto"/>
                <a:sym typeface="Roboto"/>
              </a:rPr>
              <a:t>低学习成本：工具易于上手，降低用户使用门槛。</a:t>
            </a:r>
            <a:endParaRPr lang="en-US" sz="1100"/>
          </a:p>
        </p:txBody>
      </p:sp>
      <p:sp>
        <p:nvSpPr>
          <p:cNvPr id="27" name="AutoShape 27"/>
          <p:cNvSpPr/>
          <p:nvPr/>
        </p:nvSpPr>
        <p:spPr>
          <a:xfrm>
            <a:off x="-12700000" y="-12700000"/>
            <a:ext cx="12700" cy="12700"/>
          </a:xfrm>
          <a:prstGeom prst="rect">
            <a:avLst/>
          </a:prstGeom>
          <a:noFill/>
          <a:ln w="12700" cap="flat" cmpd="sng">
            <a:noFill/>
            <a:prstDash val="solid"/>
            <a:round/>
          </a:ln>
        </p:spPr>
        <p:txBody>
          <a:bodyPr vert="horz" wrap="square" lIns="0" tIns="0" rIns="0" bIns="0" rtlCol="0" anchor="ctr" anchorCtr="0"/>
          <a:lstStyle/>
          <a:p>
            <a:pPr algn="l">
              <a:defRPr/>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0A14">
            <a:alpha val="100000"/>
          </a:srgbClr>
        </a:solidFill>
        <a:effectLst/>
      </p:bgPr>
    </p:bg>
    <p:spTree>
      <p:nvGrpSpPr>
        <p:cNvPr id="1" name=""/>
        <p:cNvGrpSpPr/>
        <p:nvPr/>
      </p:nvGrpSpPr>
      <p:grpSpPr>
        <a:xfrm>
          <a:off x="0" y="0"/>
          <a:ext cx="0" cy="0"/>
          <a:chOff x="0" y="0"/>
          <a:chExt cx="0" cy="0"/>
        </a:xfrm>
      </p:grpSpPr>
      <p:sp>
        <p:nvSpPr>
          <p:cNvPr id="24" name="矩形 23">
            <a:extLst>
              <a:ext uri="{FF2B5EF4-FFF2-40B4-BE49-F238E27FC236}">
                <a16:creationId xmlns:a16="http://schemas.microsoft.com/office/drawing/2014/main" id="{A163B3FD-55F4-8B5F-3F22-1F235684AAF1}"/>
              </a:ext>
            </a:extLst>
          </p:cNvPr>
          <p:cNvSpPr/>
          <p:nvPr/>
        </p:nvSpPr>
        <p:spPr>
          <a:xfrm>
            <a:off x="-114300" y="-114300"/>
            <a:ext cx="12405360" cy="7048500"/>
          </a:xfrm>
          <a:prstGeom prst="rect">
            <a:avLst/>
          </a:prstGeom>
          <a:gradFill>
            <a:gsLst>
              <a:gs pos="100000">
                <a:srgbClr val="04163C">
                  <a:alpha val="44000"/>
                </a:srgbClr>
              </a:gs>
              <a:gs pos="64000">
                <a:srgbClr val="002060">
                  <a:alpha val="0"/>
                </a:srgbClr>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Picture 2"/>
          <p:cNvPicPr>
            <a:picLocks noChangeAspect="1"/>
          </p:cNvPicPr>
          <p:nvPr/>
        </p:nvPicPr>
        <p:blipFill>
          <a:blip r:embed="rId3">
            <a:alphaModFix amt="20000"/>
            <a:extLst>
              <a:ext uri="{BEBA8EAE-BF5A-486C-A8C5-ECC9F3942E4B}">
                <a14:imgProps xmlns:a14="http://schemas.microsoft.com/office/drawing/2010/main">
                  <a14:imgLayer r:embed="rId4">
                    <a14:imgEffect>
                      <a14:sharpenSoften amount="8000"/>
                    </a14:imgEffect>
                    <a14:imgEffect>
                      <a14:colorTemperature colorTemp="4745"/>
                    </a14:imgEffect>
                    <a14:imgEffect>
                      <a14:saturation sat="400000"/>
                    </a14:imgEffect>
                    <a14:imgEffect>
                      <a14:brightnessContrast bright="30000" contrast="2000"/>
                    </a14:imgEffect>
                  </a14:imgLayer>
                </a14:imgProps>
              </a:ext>
            </a:extLst>
          </a:blip>
          <a:srcRect t="21875" b="21875"/>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1016000" y="508000"/>
            <a:ext cx="8890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800" dirty="0" err="1">
                <a:solidFill>
                  <a:srgbClr val="FFFFFF"/>
                </a:solidFill>
                <a:latin typeface="方正粗黑宋简体" panose="02000000000000000000" pitchFamily="2" charset="-122"/>
                <a:ea typeface="方正粗黑宋简体" panose="02000000000000000000" pitchFamily="2" charset="-122"/>
                <a:cs typeface="Poppins"/>
                <a:sym typeface="Poppins"/>
              </a:rPr>
              <a:t>项目价值与预期效果</a:t>
            </a:r>
            <a:endParaRPr lang="en-US" sz="4800" dirty="0">
              <a:solidFill>
                <a:srgbClr val="FFFFFF"/>
              </a:solidFill>
              <a:latin typeface="方正粗黑宋简体" panose="02000000000000000000" pitchFamily="2" charset="-122"/>
              <a:ea typeface="方正粗黑宋简体" panose="02000000000000000000" pitchFamily="2" charset="-122"/>
              <a:cs typeface="Poppins"/>
            </a:endParaRPr>
          </a:p>
        </p:txBody>
      </p:sp>
      <p:cxnSp>
        <p:nvCxnSpPr>
          <p:cNvPr id="4" name="Connector 4"/>
          <p:cNvCxnSpPr/>
          <p:nvPr/>
        </p:nvCxnSpPr>
        <p:spPr>
          <a:xfrm rot="-4297">
            <a:off x="1016004" y="1644650"/>
            <a:ext cx="10160000" cy="12700"/>
          </a:xfrm>
          <a:prstGeom prst="straightConnector1">
            <a:avLst/>
          </a:prstGeom>
          <a:solidFill>
            <a:srgbClr val="DEE0E3">
              <a:alpha val="100000"/>
            </a:srgbClr>
          </a:solidFill>
          <a:ln w="12700" cap="flat" cmpd="sng">
            <a:solidFill>
              <a:srgbClr val="00FFFF">
                <a:alpha val="30000"/>
              </a:srgbClr>
            </a:solidFill>
            <a:prstDash val="solid"/>
            <a:round/>
            <a:headEnd type="none" w="med" len="med"/>
            <a:tailEnd type="none" w="med" len="med"/>
          </a:ln>
        </p:spPr>
      </p:cxnSp>
      <p:sp>
        <p:nvSpPr>
          <p:cNvPr id="5" name="AutoShape 5"/>
          <p:cNvSpPr/>
          <p:nvPr/>
        </p:nvSpPr>
        <p:spPr>
          <a:xfrm>
            <a:off x="1016000" y="1905000"/>
            <a:ext cx="3810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00FFFF"/>
                </a:solidFill>
                <a:latin typeface="Roboto"/>
                <a:ea typeface="Roboto"/>
                <a:cs typeface="Roboto"/>
                <a:sym typeface="Roboto"/>
              </a:rPr>
              <a:t>对开源社区治理的价值</a:t>
            </a:r>
            <a:endParaRPr lang="en-US" sz="1100"/>
          </a:p>
        </p:txBody>
      </p:sp>
      <p:pic>
        <p:nvPicPr>
          <p:cNvPr id="6" name="Picture 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2603500"/>
            <a:ext cx="355600" cy="355600"/>
          </a:xfrm>
          <a:prstGeom prst="rect">
            <a:avLst/>
          </a:prstGeom>
        </p:spPr>
      </p:pic>
      <p:sp>
        <p:nvSpPr>
          <p:cNvPr id="7" name="AutoShape 7"/>
          <p:cNvSpPr/>
          <p:nvPr/>
        </p:nvSpPr>
        <p:spPr>
          <a:xfrm>
            <a:off x="1574800" y="2590800"/>
            <a:ext cx="3302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Roboto"/>
                <a:ea typeface="Roboto"/>
                <a:cs typeface="Roboto"/>
                <a:sym typeface="Roboto"/>
              </a:rPr>
              <a:t>提升治理效率</a:t>
            </a:r>
            <a:endParaRPr lang="en-US" sz="1100"/>
          </a:p>
        </p:txBody>
      </p:sp>
      <p:sp>
        <p:nvSpPr>
          <p:cNvPr id="8" name="AutoShape 8"/>
          <p:cNvSpPr/>
          <p:nvPr/>
        </p:nvSpPr>
        <p:spPr>
          <a:xfrm>
            <a:off x="1574800" y="3022600"/>
            <a:ext cx="3302000" cy="558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600" b="0" i="0" u="none" strike="noStrike">
                <a:solidFill>
                  <a:srgbClr val="D1D5DB"/>
                </a:solidFill>
                <a:latin typeface="Roboto"/>
                <a:ea typeface="Roboto"/>
                <a:cs typeface="Roboto"/>
                <a:sym typeface="Roboto"/>
              </a:rPr>
              <a:t>减少处理新手问题时间，提升治理专注度。</a:t>
            </a:r>
            <a:endParaRPr lang="en-US" sz="1100"/>
          </a:p>
        </p:txBody>
      </p:sp>
      <p:pic>
        <p:nvPicPr>
          <p:cNvPr id="9" name="Picture 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3873500"/>
            <a:ext cx="355600" cy="355600"/>
          </a:xfrm>
          <a:prstGeom prst="rect">
            <a:avLst/>
          </a:prstGeom>
        </p:spPr>
      </p:pic>
      <p:sp>
        <p:nvSpPr>
          <p:cNvPr id="10" name="AutoShape 10"/>
          <p:cNvSpPr/>
          <p:nvPr/>
        </p:nvSpPr>
        <p:spPr>
          <a:xfrm>
            <a:off x="1574800" y="3860800"/>
            <a:ext cx="3302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Roboto"/>
                <a:ea typeface="Roboto"/>
                <a:cs typeface="Roboto"/>
                <a:sym typeface="Roboto"/>
              </a:rPr>
              <a:t>优化治理决策</a:t>
            </a:r>
            <a:endParaRPr lang="en-US" sz="1100"/>
          </a:p>
        </p:txBody>
      </p:sp>
      <p:sp>
        <p:nvSpPr>
          <p:cNvPr id="11" name="AutoShape 11"/>
          <p:cNvSpPr/>
          <p:nvPr/>
        </p:nvSpPr>
        <p:spPr>
          <a:xfrm>
            <a:off x="1574800" y="4292600"/>
            <a:ext cx="3302000" cy="558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600" b="0" i="0" u="none" strike="noStrike">
                <a:solidFill>
                  <a:srgbClr val="D1D5DB"/>
                </a:solidFill>
                <a:latin typeface="Roboto"/>
                <a:ea typeface="Roboto"/>
                <a:cs typeface="Roboto"/>
                <a:sym typeface="Roboto"/>
              </a:rPr>
              <a:t>基于数据的治理决策，避免主观判断。</a:t>
            </a:r>
            <a:endParaRPr lang="en-US" sz="1100"/>
          </a:p>
        </p:txBody>
      </p:sp>
      <p:pic>
        <p:nvPicPr>
          <p:cNvPr id="12" name="Picture 12"/>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16000" y="5143500"/>
            <a:ext cx="355600" cy="355600"/>
          </a:xfrm>
          <a:prstGeom prst="rect">
            <a:avLst/>
          </a:prstGeom>
        </p:spPr>
      </p:pic>
      <p:sp>
        <p:nvSpPr>
          <p:cNvPr id="13" name="AutoShape 13"/>
          <p:cNvSpPr/>
          <p:nvPr/>
        </p:nvSpPr>
        <p:spPr>
          <a:xfrm>
            <a:off x="1574800" y="5130800"/>
            <a:ext cx="3302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Roboto"/>
                <a:ea typeface="Roboto"/>
                <a:cs typeface="Roboto"/>
                <a:sym typeface="Roboto"/>
              </a:rPr>
              <a:t>促进社区健康</a:t>
            </a:r>
            <a:endParaRPr lang="en-US" sz="1100"/>
          </a:p>
        </p:txBody>
      </p:sp>
      <p:sp>
        <p:nvSpPr>
          <p:cNvPr id="14" name="AutoShape 14"/>
          <p:cNvSpPr/>
          <p:nvPr/>
        </p:nvSpPr>
        <p:spPr>
          <a:xfrm>
            <a:off x="1574800" y="5562600"/>
            <a:ext cx="3302000" cy="5588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600" b="0" i="0" u="none" strike="noStrike">
                <a:solidFill>
                  <a:srgbClr val="D1D5DB"/>
                </a:solidFill>
                <a:latin typeface="Roboto"/>
                <a:ea typeface="Roboto"/>
                <a:cs typeface="Roboto"/>
                <a:sym typeface="Roboto"/>
              </a:rPr>
              <a:t>提升社区活跃度与可持续性。</a:t>
            </a:r>
            <a:endParaRPr lang="en-US" sz="1100"/>
          </a:p>
        </p:txBody>
      </p:sp>
      <p:cxnSp>
        <p:nvCxnSpPr>
          <p:cNvPr id="15" name="Connector 15"/>
          <p:cNvCxnSpPr/>
          <p:nvPr/>
        </p:nvCxnSpPr>
        <p:spPr>
          <a:xfrm rot="5389582">
            <a:off x="2857489" y="3994170"/>
            <a:ext cx="4191021" cy="12700"/>
          </a:xfrm>
          <a:prstGeom prst="straightConnector1">
            <a:avLst/>
          </a:prstGeom>
          <a:solidFill>
            <a:srgbClr val="DEE0E3">
              <a:alpha val="100000"/>
            </a:srgbClr>
          </a:solidFill>
          <a:ln w="12700" cap="flat" cmpd="sng">
            <a:solidFill>
              <a:srgbClr val="00FFFF">
                <a:alpha val="20000"/>
              </a:srgbClr>
            </a:solidFill>
            <a:prstDash val="dash"/>
            <a:round/>
            <a:headEnd type="none" w="med" len="med"/>
            <a:tailEnd type="none" w="med" len="med"/>
          </a:ln>
        </p:spPr>
      </p:cxnSp>
      <p:sp>
        <p:nvSpPr>
          <p:cNvPr id="16" name="AutoShape 16"/>
          <p:cNvSpPr/>
          <p:nvPr/>
        </p:nvSpPr>
        <p:spPr>
          <a:xfrm>
            <a:off x="5461000" y="1905000"/>
            <a:ext cx="3302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00FFFF"/>
                </a:solidFill>
                <a:latin typeface="Roboto"/>
                <a:ea typeface="Roboto"/>
                <a:cs typeface="Roboto"/>
                <a:sym typeface="Roboto"/>
              </a:rPr>
              <a:t>预期效果</a:t>
            </a:r>
            <a:endParaRPr lang="en-US" sz="1100"/>
          </a:p>
        </p:txBody>
      </p:sp>
      <p:pic>
        <p:nvPicPr>
          <p:cNvPr id="17" name="Picture 17"/>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461000" y="2540000"/>
            <a:ext cx="558800" cy="558800"/>
          </a:xfrm>
          <a:prstGeom prst="rect">
            <a:avLst/>
          </a:prstGeom>
        </p:spPr>
      </p:pic>
      <p:sp>
        <p:nvSpPr>
          <p:cNvPr id="18" name="AutoShape 18"/>
          <p:cNvSpPr/>
          <p:nvPr/>
        </p:nvSpPr>
        <p:spPr>
          <a:xfrm>
            <a:off x="6223000" y="2514600"/>
            <a:ext cx="5334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FFFF"/>
                </a:solidFill>
                <a:latin typeface="Roboto"/>
                <a:ea typeface="Roboto"/>
                <a:cs typeface="Roboto"/>
                <a:sym typeface="Roboto"/>
              </a:rPr>
              <a:t>效率提升 40%</a:t>
            </a:r>
            <a:endParaRPr lang="en-US" sz="1100"/>
          </a:p>
        </p:txBody>
      </p:sp>
      <p:sp>
        <p:nvSpPr>
          <p:cNvPr id="19" name="AutoShape 19"/>
          <p:cNvSpPr/>
          <p:nvPr/>
        </p:nvSpPr>
        <p:spPr>
          <a:xfrm>
            <a:off x="6223000" y="3200400"/>
            <a:ext cx="5334000" cy="762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800" b="0" i="0" u="none" strike="noStrike">
                <a:solidFill>
                  <a:srgbClr val="D1D5DB"/>
                </a:solidFill>
                <a:latin typeface="Roboto"/>
                <a:ea typeface="Roboto"/>
                <a:cs typeface="Roboto"/>
                <a:sym typeface="Roboto"/>
              </a:rPr>
              <a:t>治理者专注核心工作，减少重复问题解答。</a:t>
            </a:r>
            <a:endParaRPr lang="en-US" sz="1100"/>
          </a:p>
        </p:txBody>
      </p:sp>
      <p:cxnSp>
        <p:nvCxnSpPr>
          <p:cNvPr id="20" name="Connector 20"/>
          <p:cNvCxnSpPr/>
          <p:nvPr/>
        </p:nvCxnSpPr>
        <p:spPr>
          <a:xfrm rot="5388540">
            <a:off x="6984989" y="4057671"/>
            <a:ext cx="3810021" cy="12700"/>
          </a:xfrm>
          <a:prstGeom prst="straightConnector1">
            <a:avLst/>
          </a:prstGeom>
          <a:solidFill>
            <a:srgbClr val="DEE0E3">
              <a:alpha val="100000"/>
            </a:srgbClr>
          </a:solidFill>
          <a:ln cap="flat" cmpd="sng">
            <a:solidFill>
              <a:srgbClr val="00FFFF">
                <a:alpha val="0"/>
              </a:srgbClr>
            </a:solidFill>
            <a:prstDash val="dash"/>
            <a:round/>
            <a:headEnd type="none"/>
            <a:tailEnd type="none"/>
          </a:ln>
        </p:spPr>
      </p:cxnSp>
      <p:pic>
        <p:nvPicPr>
          <p:cNvPr id="21" name="Picture 21"/>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5461000" y="4191000"/>
            <a:ext cx="558800" cy="558800"/>
          </a:xfrm>
          <a:prstGeom prst="rect">
            <a:avLst/>
          </a:prstGeom>
        </p:spPr>
      </p:pic>
      <p:sp>
        <p:nvSpPr>
          <p:cNvPr id="22" name="AutoShape 22"/>
          <p:cNvSpPr/>
          <p:nvPr/>
        </p:nvSpPr>
        <p:spPr>
          <a:xfrm>
            <a:off x="6223000" y="4165600"/>
            <a:ext cx="5334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00FFFF"/>
                </a:solidFill>
                <a:latin typeface="Roboto"/>
                <a:ea typeface="Roboto"/>
                <a:cs typeface="Roboto"/>
                <a:sym typeface="Roboto"/>
              </a:rPr>
              <a:t>流失率降低 25%</a:t>
            </a:r>
            <a:endParaRPr lang="en-US" sz="1100"/>
          </a:p>
        </p:txBody>
      </p:sp>
      <p:sp>
        <p:nvSpPr>
          <p:cNvPr id="23" name="AutoShape 23"/>
          <p:cNvSpPr/>
          <p:nvPr/>
        </p:nvSpPr>
        <p:spPr>
          <a:xfrm>
            <a:off x="6223000" y="4851400"/>
            <a:ext cx="5334000" cy="762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800" b="0" i="0" u="none" strike="noStrike">
                <a:solidFill>
                  <a:srgbClr val="D1D5DB"/>
                </a:solidFill>
                <a:latin typeface="Roboto"/>
                <a:ea typeface="Roboto"/>
                <a:cs typeface="Roboto"/>
                <a:sym typeface="Roboto"/>
              </a:rPr>
              <a:t>智能引导提升新手贡献成功率。</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11827">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alphaModFix amt="15000"/>
          </a:blip>
          <a:srcRect t="21875" b="21875"/>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1016000" y="635000"/>
            <a:ext cx="10160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800" dirty="0" err="1">
                <a:solidFill>
                  <a:srgbClr val="FFFFFF"/>
                </a:solidFill>
                <a:latin typeface="方正粗黑宋简体" panose="02000000000000000000" pitchFamily="2" charset="-122"/>
                <a:ea typeface="方正粗黑宋简体" panose="02000000000000000000" pitchFamily="2" charset="-122"/>
                <a:cs typeface="Poppins"/>
                <a:sym typeface="Poppins"/>
              </a:rPr>
              <a:t>技术架构与开源工具整合</a:t>
            </a:r>
            <a:endParaRPr lang="en-US" sz="4800" dirty="0">
              <a:solidFill>
                <a:srgbClr val="FFFFFF"/>
              </a:solidFill>
              <a:latin typeface="方正粗黑宋简体" panose="02000000000000000000" pitchFamily="2" charset="-122"/>
              <a:ea typeface="方正粗黑宋简体" panose="02000000000000000000" pitchFamily="2" charset="-122"/>
              <a:cs typeface="Poppins"/>
            </a:endParaRPr>
          </a:p>
        </p:txBody>
      </p:sp>
      <p:cxnSp>
        <p:nvCxnSpPr>
          <p:cNvPr id="4" name="Connector 4"/>
          <p:cNvCxnSpPr/>
          <p:nvPr/>
        </p:nvCxnSpPr>
        <p:spPr>
          <a:xfrm rot="-10742">
            <a:off x="1016010" y="1454150"/>
            <a:ext cx="4064000" cy="12700"/>
          </a:xfrm>
          <a:prstGeom prst="straightConnector1">
            <a:avLst/>
          </a:prstGeom>
          <a:solidFill>
            <a:srgbClr val="DEE0E3">
              <a:alpha val="100000"/>
            </a:srgbClr>
          </a:solidFill>
          <a:ln w="25400" cap="flat" cmpd="sng">
            <a:solidFill>
              <a:srgbClr val="00FFFF">
                <a:alpha val="100000"/>
              </a:srgbClr>
            </a:solidFill>
            <a:prstDash val="solid"/>
            <a:round/>
            <a:headEnd type="none" w="lg" len="lg"/>
            <a:tailEnd type="none" w="lg" len="lg"/>
          </a:ln>
        </p:spPr>
      </p:cxnSp>
      <p:sp>
        <p:nvSpPr>
          <p:cNvPr id="5" name="AutoShape 5"/>
          <p:cNvSpPr/>
          <p:nvPr/>
        </p:nvSpPr>
        <p:spPr>
          <a:xfrm>
            <a:off x="1016000" y="1778000"/>
            <a:ext cx="381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00FFFF"/>
                </a:solidFill>
                <a:latin typeface="Poppins"/>
                <a:ea typeface="Poppins"/>
                <a:cs typeface="Poppins"/>
                <a:sym typeface="Poppins"/>
              </a:rPr>
              <a:t>技术架构</a:t>
            </a:r>
            <a:endParaRPr lang="en-US" sz="1100"/>
          </a:p>
        </p:txBody>
      </p:sp>
      <p:sp>
        <p:nvSpPr>
          <p:cNvPr id="6" name="AutoShape 6"/>
          <p:cNvSpPr/>
          <p:nvPr/>
        </p:nvSpPr>
        <p:spPr>
          <a:xfrm>
            <a:off x="1016000" y="2413000"/>
            <a:ext cx="4826000" cy="889000"/>
          </a:xfrm>
          <a:prstGeom prst="roundRect">
            <a:avLst>
              <a:gd name="adj" fmla="val 11428"/>
            </a:avLst>
          </a:prstGeom>
          <a:solidFill>
            <a:srgbClr val="00FFFF">
              <a:alpha val="10000"/>
            </a:srgbClr>
          </a:solidFill>
          <a:ln w="12700" cap="flat" cmpd="sng">
            <a:solidFill>
              <a:srgbClr val="00FFFF">
                <a:alpha val="100000"/>
              </a:srgbClr>
            </a:solidFill>
            <a:prstDash val="solid"/>
            <a:round/>
          </a:ln>
        </p:spPr>
        <p:txBody>
          <a:bodyPr vert="horz" wrap="square" lIns="0" tIns="0" rIns="0" bIns="0" rtlCol="0" anchor="ctr" anchorCtr="0"/>
          <a:lstStyle/>
          <a:p>
            <a:pPr algn="ctr">
              <a:defRPr/>
            </a:pPr>
            <a:endParaRPr/>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68400" y="2705100"/>
            <a:ext cx="304800" cy="304800"/>
          </a:xfrm>
          <a:prstGeom prst="rect">
            <a:avLst/>
          </a:prstGeom>
        </p:spPr>
      </p:pic>
      <p:sp>
        <p:nvSpPr>
          <p:cNvPr id="8" name="AutoShape 8"/>
          <p:cNvSpPr/>
          <p:nvPr/>
        </p:nvSpPr>
        <p:spPr>
          <a:xfrm>
            <a:off x="1625600" y="2476500"/>
            <a:ext cx="419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Roboto"/>
                <a:ea typeface="Roboto"/>
                <a:cs typeface="Roboto"/>
                <a:sym typeface="Roboto"/>
              </a:rPr>
              <a:t>前端 (Streamlit)</a:t>
            </a:r>
            <a:br>
              <a:rPr lang="en-US" sz="1800" b="0" i="0" u="none" strike="noStrike">
                <a:solidFill>
                  <a:srgbClr val="FFFFFF"/>
                </a:solidFill>
                <a:latin typeface="Roboto"/>
                <a:ea typeface="Roboto"/>
                <a:cs typeface="Roboto"/>
                <a:sym typeface="Roboto"/>
              </a:rPr>
            </a:br>
            <a:r>
              <a:rPr lang="en-US" sz="1400" b="0" i="0" u="none" strike="noStrike">
                <a:solidFill>
                  <a:srgbClr val="E5E7EB"/>
                </a:solidFill>
                <a:latin typeface="Roboto"/>
                <a:ea typeface="Roboto"/>
                <a:cs typeface="Roboto"/>
                <a:sym typeface="Roboto"/>
              </a:rPr>
              <a:t>采用Python的Streamlit框架，实现快速原型开发和数据可视化，支持热重载。</a:t>
            </a:r>
            <a:endParaRPr lang="en-US" sz="1100"/>
          </a:p>
        </p:txBody>
      </p:sp>
      <p:cxnSp>
        <p:nvCxnSpPr>
          <p:cNvPr id="9" name="Connector 9"/>
          <p:cNvCxnSpPr/>
          <p:nvPr/>
        </p:nvCxnSpPr>
        <p:spPr>
          <a:xfrm rot="5057364">
            <a:off x="3365500" y="3359467"/>
            <a:ext cx="127000" cy="12700"/>
          </a:xfrm>
          <a:prstGeom prst="straightConnector1">
            <a:avLst/>
          </a:prstGeom>
          <a:solidFill>
            <a:srgbClr val="DEE0E3">
              <a:alpha val="100000"/>
            </a:srgbClr>
          </a:solidFill>
          <a:ln w="25400" cap="flat" cmpd="sng">
            <a:solidFill>
              <a:srgbClr val="00FFFF">
                <a:alpha val="100000"/>
              </a:srgbClr>
            </a:solidFill>
            <a:prstDash val="solid"/>
            <a:round/>
            <a:headEnd type="none" w="lg" len="lg"/>
            <a:tailEnd type="triangle" w="med" len="med"/>
          </a:ln>
        </p:spPr>
      </p:cxnSp>
      <p:sp>
        <p:nvSpPr>
          <p:cNvPr id="10" name="AutoShape 10"/>
          <p:cNvSpPr/>
          <p:nvPr/>
        </p:nvSpPr>
        <p:spPr>
          <a:xfrm>
            <a:off x="1016000" y="3429000"/>
            <a:ext cx="4826000" cy="889000"/>
          </a:xfrm>
          <a:prstGeom prst="roundRect">
            <a:avLst>
              <a:gd name="adj" fmla="val 11428"/>
            </a:avLst>
          </a:prstGeom>
          <a:solidFill>
            <a:srgbClr val="00FFFF">
              <a:alpha val="10000"/>
            </a:srgbClr>
          </a:solidFill>
          <a:ln w="12700" cap="flat" cmpd="sng">
            <a:solidFill>
              <a:srgbClr val="00FFFF">
                <a:alpha val="100000"/>
              </a:srgbClr>
            </a:solidFill>
            <a:prstDash val="solid"/>
            <a:round/>
          </a:ln>
        </p:spPr>
        <p:txBody>
          <a:bodyPr vert="horz" wrap="square" lIns="0" tIns="0" rIns="0" bIns="0" rtlCol="0" anchor="ctr" anchorCtr="0"/>
          <a:lstStyle/>
          <a:p>
            <a:pPr algn="ctr">
              <a:defRPr/>
            </a:pPr>
            <a:endParaRPr/>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68400" y="3721100"/>
            <a:ext cx="304800" cy="304800"/>
          </a:xfrm>
          <a:prstGeom prst="rect">
            <a:avLst/>
          </a:prstGeom>
        </p:spPr>
      </p:pic>
      <p:sp>
        <p:nvSpPr>
          <p:cNvPr id="12" name="AutoShape 12"/>
          <p:cNvSpPr/>
          <p:nvPr/>
        </p:nvSpPr>
        <p:spPr>
          <a:xfrm>
            <a:off x="1625600" y="3492500"/>
            <a:ext cx="419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Roboto"/>
                <a:ea typeface="Roboto"/>
                <a:cs typeface="Roboto"/>
                <a:sym typeface="Roboto"/>
              </a:rPr>
              <a:t>OpenDigger API</a:t>
            </a:r>
            <a:br>
              <a:rPr lang="en-US" sz="1800" b="0" i="0" u="none" strike="noStrike">
                <a:solidFill>
                  <a:srgbClr val="FFFFFF"/>
                </a:solidFill>
                <a:latin typeface="Roboto"/>
                <a:ea typeface="Roboto"/>
                <a:cs typeface="Roboto"/>
                <a:sym typeface="Roboto"/>
              </a:rPr>
            </a:br>
            <a:r>
              <a:rPr lang="en-US" sz="1400" b="0" i="0" u="none" strike="noStrike">
                <a:solidFill>
                  <a:srgbClr val="E5E7EB"/>
                </a:solidFill>
                <a:latin typeface="Roboto"/>
                <a:ea typeface="Roboto"/>
                <a:cs typeface="Roboto"/>
                <a:sym typeface="Roboto"/>
              </a:rPr>
              <a:t>作为核心数据源，提供标准化的开源项目分析数据。</a:t>
            </a:r>
            <a:endParaRPr lang="en-US" sz="1100"/>
          </a:p>
        </p:txBody>
      </p:sp>
      <p:sp>
        <p:nvSpPr>
          <p:cNvPr id="13" name="AutoShape 13"/>
          <p:cNvSpPr/>
          <p:nvPr/>
        </p:nvSpPr>
        <p:spPr>
          <a:xfrm>
            <a:off x="1016000" y="4445000"/>
            <a:ext cx="4826000" cy="889000"/>
          </a:xfrm>
          <a:prstGeom prst="roundRect">
            <a:avLst>
              <a:gd name="adj" fmla="val 11428"/>
            </a:avLst>
          </a:prstGeom>
          <a:solidFill>
            <a:srgbClr val="00FFFF">
              <a:alpha val="10000"/>
            </a:srgbClr>
          </a:solidFill>
          <a:ln w="12700" cap="flat" cmpd="sng">
            <a:solidFill>
              <a:srgbClr val="00FFFF">
                <a:alpha val="100000"/>
              </a:srgbClr>
            </a:solidFill>
            <a:prstDash val="solid"/>
            <a:round/>
          </a:ln>
        </p:spPr>
        <p:txBody>
          <a:bodyPr vert="horz" wrap="square" lIns="0" tIns="0" rIns="0" bIns="0" rtlCol="0" anchor="ctr" anchorCtr="0"/>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168400" y="4737100"/>
            <a:ext cx="304800" cy="304800"/>
          </a:xfrm>
          <a:prstGeom prst="rect">
            <a:avLst/>
          </a:prstGeom>
        </p:spPr>
      </p:pic>
      <p:sp>
        <p:nvSpPr>
          <p:cNvPr id="15" name="AutoShape 15"/>
          <p:cNvSpPr/>
          <p:nvPr/>
        </p:nvSpPr>
        <p:spPr>
          <a:xfrm>
            <a:off x="1625600" y="4508500"/>
            <a:ext cx="419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Roboto"/>
                <a:ea typeface="Roboto"/>
                <a:cs typeface="Roboto"/>
                <a:sym typeface="Roboto"/>
              </a:rPr>
              <a:t>MaxKB</a:t>
            </a:r>
            <a:br>
              <a:rPr lang="en-US" sz="1800" b="0" i="0" u="none" strike="noStrike">
                <a:solidFill>
                  <a:srgbClr val="FFFFFF"/>
                </a:solidFill>
                <a:latin typeface="Roboto"/>
                <a:ea typeface="Roboto"/>
                <a:cs typeface="Roboto"/>
                <a:sym typeface="Roboto"/>
              </a:rPr>
            </a:br>
            <a:r>
              <a:rPr lang="en-US" sz="1400" b="0" i="0" u="none" strike="noStrike">
                <a:solidFill>
                  <a:srgbClr val="E5E7EB"/>
                </a:solidFill>
                <a:latin typeface="Roboto"/>
                <a:ea typeface="Roboto"/>
                <a:cs typeface="Roboto"/>
                <a:sym typeface="Roboto"/>
              </a:rPr>
              <a:t>私有化部署的知识库，存储和管理社区治理的FAQ等内容。</a:t>
            </a:r>
            <a:endParaRPr lang="en-US" sz="1100"/>
          </a:p>
        </p:txBody>
      </p:sp>
      <p:sp>
        <p:nvSpPr>
          <p:cNvPr id="16" name="AutoShape 16"/>
          <p:cNvSpPr/>
          <p:nvPr/>
        </p:nvSpPr>
        <p:spPr>
          <a:xfrm>
            <a:off x="1016000" y="5461000"/>
            <a:ext cx="4826000" cy="889000"/>
          </a:xfrm>
          <a:prstGeom prst="roundRect">
            <a:avLst>
              <a:gd name="adj" fmla="val 11428"/>
            </a:avLst>
          </a:prstGeom>
          <a:solidFill>
            <a:srgbClr val="00FFFF">
              <a:alpha val="10000"/>
            </a:srgbClr>
          </a:solidFill>
          <a:ln w="12700" cap="flat" cmpd="sng">
            <a:solidFill>
              <a:srgbClr val="00FFFF">
                <a:alpha val="100000"/>
              </a:srgbClr>
            </a:solidFill>
            <a:prstDash val="solid"/>
            <a:round/>
          </a:ln>
        </p:spPr>
        <p:txBody>
          <a:bodyPr vert="horz" wrap="square" lIns="0" tIns="0" rIns="0" bIns="0" rtlCol="0" anchor="ctr" anchorCtr="0"/>
          <a:lstStyle/>
          <a:p>
            <a:pPr algn="ctr">
              <a:defRPr/>
            </a:pPr>
            <a:endParaRPr/>
          </a:p>
        </p:txBody>
      </p:sp>
      <p:pic>
        <p:nvPicPr>
          <p:cNvPr id="17" name="Picture 17"/>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168400" y="5753100"/>
            <a:ext cx="304800" cy="304800"/>
          </a:xfrm>
          <a:prstGeom prst="rect">
            <a:avLst/>
          </a:prstGeom>
        </p:spPr>
      </p:pic>
      <p:sp>
        <p:nvSpPr>
          <p:cNvPr id="18" name="AutoShape 18"/>
          <p:cNvSpPr/>
          <p:nvPr/>
        </p:nvSpPr>
        <p:spPr>
          <a:xfrm>
            <a:off x="1625600" y="5524500"/>
            <a:ext cx="419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Roboto"/>
                <a:ea typeface="Roboto"/>
                <a:cs typeface="Roboto"/>
                <a:sym typeface="Roboto"/>
              </a:rPr>
              <a:t>DeepSeek API</a:t>
            </a:r>
            <a:br>
              <a:rPr lang="en-US" sz="1800" b="0" i="0" u="none" strike="noStrike">
                <a:solidFill>
                  <a:srgbClr val="FFFFFF"/>
                </a:solidFill>
                <a:latin typeface="Roboto"/>
                <a:ea typeface="Roboto"/>
                <a:cs typeface="Roboto"/>
                <a:sym typeface="Roboto"/>
              </a:rPr>
            </a:br>
            <a:r>
              <a:rPr lang="en-US" sz="1400" b="0" i="0" u="none" strike="noStrike">
                <a:solidFill>
                  <a:srgbClr val="E5E7EB"/>
                </a:solidFill>
                <a:latin typeface="Roboto"/>
                <a:ea typeface="Roboto"/>
                <a:cs typeface="Roboto"/>
                <a:sym typeface="Roboto"/>
              </a:rPr>
              <a:t>调用代码理解和对话能力，实现智能问答和建议生成。</a:t>
            </a:r>
            <a:endParaRPr lang="en-US" sz="1100"/>
          </a:p>
        </p:txBody>
      </p:sp>
      <p:cxnSp>
        <p:nvCxnSpPr>
          <p:cNvPr id="19" name="Connector 19"/>
          <p:cNvCxnSpPr/>
          <p:nvPr/>
        </p:nvCxnSpPr>
        <p:spPr>
          <a:xfrm rot="5389582">
            <a:off x="4000500" y="3994160"/>
            <a:ext cx="4191000" cy="12700"/>
          </a:xfrm>
          <a:prstGeom prst="straightConnector1">
            <a:avLst/>
          </a:prstGeom>
          <a:solidFill>
            <a:srgbClr val="DEE0E3">
              <a:alpha val="100000"/>
            </a:srgbClr>
          </a:solidFill>
          <a:ln w="25400" cap="flat" cmpd="sng">
            <a:solidFill>
              <a:srgbClr val="00FFFF">
                <a:alpha val="30000"/>
              </a:srgbClr>
            </a:solidFill>
            <a:prstDash val="dash"/>
            <a:round/>
            <a:headEnd type="none" w="lg" len="lg"/>
            <a:tailEnd type="none" w="lg" len="lg"/>
          </a:ln>
        </p:spPr>
      </p:cxnSp>
      <p:sp>
        <p:nvSpPr>
          <p:cNvPr id="20" name="AutoShape 20"/>
          <p:cNvSpPr/>
          <p:nvPr/>
        </p:nvSpPr>
        <p:spPr>
          <a:xfrm>
            <a:off x="6604000" y="1778000"/>
            <a:ext cx="508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00FFFF"/>
                </a:solidFill>
                <a:latin typeface="Poppins"/>
                <a:ea typeface="Poppins"/>
                <a:cs typeface="Poppins"/>
                <a:sym typeface="Poppins"/>
              </a:rPr>
              <a:t>工具选择合理性</a:t>
            </a:r>
            <a:endParaRPr lang="en-US" sz="1100"/>
          </a:p>
        </p:txBody>
      </p:sp>
      <p:pic>
        <p:nvPicPr>
          <p:cNvPr id="21" name="Picture 21"/>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604000" y="2540000"/>
            <a:ext cx="304800" cy="304800"/>
          </a:xfrm>
          <a:prstGeom prst="rect">
            <a:avLst/>
          </a:prstGeom>
        </p:spPr>
      </p:pic>
      <p:sp>
        <p:nvSpPr>
          <p:cNvPr id="22" name="AutoShape 22"/>
          <p:cNvSpPr/>
          <p:nvPr/>
        </p:nvSpPr>
        <p:spPr>
          <a:xfrm>
            <a:off x="7112000" y="25146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Roboto"/>
                <a:ea typeface="Roboto"/>
                <a:cs typeface="Roboto"/>
                <a:sym typeface="Roboto"/>
              </a:rPr>
              <a:t>OpenDigger</a:t>
            </a:r>
            <a:endParaRPr lang="en-US" sz="1100"/>
          </a:p>
        </p:txBody>
      </p:sp>
      <p:sp>
        <p:nvSpPr>
          <p:cNvPr id="23" name="AutoShape 23"/>
          <p:cNvSpPr/>
          <p:nvPr/>
        </p:nvSpPr>
        <p:spPr>
          <a:xfrm>
            <a:off x="7112000" y="2946400"/>
            <a:ext cx="4724400" cy="635000"/>
          </a:xfrm>
          <a:prstGeom prst="rect">
            <a:avLst/>
          </a:prstGeom>
          <a:noFill/>
          <a:ln w="12700" cap="flat" cmpd="sng">
            <a:noFill/>
            <a:prstDash val="solid"/>
            <a:round/>
          </a:ln>
        </p:spPr>
        <p:txBody>
          <a:bodyPr vert="horz" wrap="square" lIns="0" tIns="0" rIns="0" bIns="0" rtlCol="0" anchor="t" anchorCtr="0"/>
          <a:lstStyle/>
          <a:p>
            <a:pPr indent="0" algn="l">
              <a:lnSpc>
                <a:spcPct val="133333"/>
              </a:lnSpc>
              <a:defRPr/>
            </a:pPr>
            <a:r>
              <a:rPr lang="en-US" sz="2000" b="0" i="0" u="none" strike="noStrike">
                <a:solidFill>
                  <a:srgbClr val="FFFFFF"/>
                </a:solidFill>
                <a:latin typeface="Roboto"/>
                <a:ea typeface="Roboto"/>
                <a:cs typeface="Roboto"/>
                <a:sym typeface="Roboto"/>
              </a:rPr>
              <a:t>获取开源项目治理核心指标，数据权威可靠。</a:t>
            </a:r>
            <a:endParaRPr lang="en-US" sz="1100"/>
          </a:p>
        </p:txBody>
      </p:sp>
      <p:pic>
        <p:nvPicPr>
          <p:cNvPr id="24" name="Picture 24"/>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604000" y="3708400"/>
            <a:ext cx="304800" cy="304800"/>
          </a:xfrm>
          <a:prstGeom prst="rect">
            <a:avLst/>
          </a:prstGeom>
        </p:spPr>
      </p:pic>
      <p:sp>
        <p:nvSpPr>
          <p:cNvPr id="25" name="AutoShape 25"/>
          <p:cNvSpPr/>
          <p:nvPr/>
        </p:nvSpPr>
        <p:spPr>
          <a:xfrm>
            <a:off x="7112000" y="36830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Roboto"/>
                <a:ea typeface="Roboto"/>
                <a:cs typeface="Roboto"/>
                <a:sym typeface="Roboto"/>
              </a:rPr>
              <a:t>MaxKB</a:t>
            </a:r>
            <a:endParaRPr lang="en-US" sz="1100"/>
          </a:p>
        </p:txBody>
      </p:sp>
      <p:sp>
        <p:nvSpPr>
          <p:cNvPr id="26" name="AutoShape 26"/>
          <p:cNvSpPr/>
          <p:nvPr/>
        </p:nvSpPr>
        <p:spPr>
          <a:xfrm>
            <a:off x="7112000" y="4114800"/>
            <a:ext cx="4724400" cy="635000"/>
          </a:xfrm>
          <a:prstGeom prst="rect">
            <a:avLst/>
          </a:prstGeom>
          <a:noFill/>
          <a:ln w="12700" cap="flat" cmpd="sng">
            <a:noFill/>
            <a:prstDash val="solid"/>
            <a:round/>
          </a:ln>
        </p:spPr>
        <p:txBody>
          <a:bodyPr vert="horz" wrap="square" lIns="0" tIns="0" rIns="0" bIns="0" rtlCol="0" anchor="t" anchorCtr="0"/>
          <a:lstStyle/>
          <a:p>
            <a:pPr indent="0" algn="l">
              <a:lnSpc>
                <a:spcPct val="133333"/>
              </a:lnSpc>
              <a:defRPr/>
            </a:pPr>
            <a:r>
              <a:rPr lang="en-US" sz="2000" b="0" i="0" u="none" strike="noStrike">
                <a:solidFill>
                  <a:srgbClr val="FFFFFF"/>
                </a:solidFill>
                <a:latin typeface="Roboto"/>
                <a:ea typeface="Roboto"/>
                <a:cs typeface="Roboto"/>
                <a:sym typeface="Roboto"/>
              </a:rPr>
              <a:t>构建开源社区治理知识库，提供常见问题解答。</a:t>
            </a:r>
            <a:endParaRPr lang="en-US" sz="1100"/>
          </a:p>
        </p:txBody>
      </p:sp>
      <p:pic>
        <p:nvPicPr>
          <p:cNvPr id="27" name="Picture 27"/>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604000" y="4876800"/>
            <a:ext cx="304800" cy="304800"/>
          </a:xfrm>
          <a:prstGeom prst="rect">
            <a:avLst/>
          </a:prstGeom>
        </p:spPr>
      </p:pic>
      <p:sp>
        <p:nvSpPr>
          <p:cNvPr id="28" name="AutoShape 28"/>
          <p:cNvSpPr/>
          <p:nvPr/>
        </p:nvSpPr>
        <p:spPr>
          <a:xfrm>
            <a:off x="7112000" y="48514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Roboto"/>
                <a:ea typeface="Roboto"/>
                <a:cs typeface="Roboto"/>
                <a:sym typeface="Roboto"/>
              </a:rPr>
              <a:t>DeepSeek</a:t>
            </a:r>
            <a:endParaRPr lang="en-US" sz="1100"/>
          </a:p>
        </p:txBody>
      </p:sp>
      <p:sp>
        <p:nvSpPr>
          <p:cNvPr id="29" name="AutoShape 29"/>
          <p:cNvSpPr/>
          <p:nvPr/>
        </p:nvSpPr>
        <p:spPr>
          <a:xfrm>
            <a:off x="7112000" y="5283200"/>
            <a:ext cx="4724400" cy="635000"/>
          </a:xfrm>
          <a:prstGeom prst="rect">
            <a:avLst/>
          </a:prstGeom>
          <a:noFill/>
          <a:ln w="12700" cap="flat" cmpd="sng">
            <a:noFill/>
            <a:prstDash val="solid"/>
            <a:round/>
          </a:ln>
        </p:spPr>
        <p:txBody>
          <a:bodyPr vert="horz" wrap="square" lIns="0" tIns="0" rIns="0" bIns="0" rtlCol="0" anchor="t" anchorCtr="0"/>
          <a:lstStyle/>
          <a:p>
            <a:pPr indent="0" algn="l">
              <a:lnSpc>
                <a:spcPct val="133333"/>
              </a:lnSpc>
              <a:defRPr/>
            </a:pPr>
            <a:r>
              <a:rPr lang="en-US" sz="2000" b="0" i="0" u="none" strike="noStrike">
                <a:solidFill>
                  <a:srgbClr val="FFFFFF"/>
                </a:solidFill>
                <a:latin typeface="Roboto"/>
                <a:ea typeface="Roboto"/>
                <a:cs typeface="Roboto"/>
                <a:sym typeface="Roboto"/>
              </a:rPr>
              <a:t>AI生成治理建议，实现数据到决策的转化。</a:t>
            </a:r>
            <a:endParaRPr lang="en-US" sz="1100"/>
          </a:p>
        </p:txBody>
      </p:sp>
      <p:cxnSp>
        <p:nvCxnSpPr>
          <p:cNvPr id="30" name="Connector 30"/>
          <p:cNvCxnSpPr/>
          <p:nvPr/>
        </p:nvCxnSpPr>
        <p:spPr>
          <a:xfrm rot="5057364">
            <a:off x="3365500" y="4375467"/>
            <a:ext cx="127000" cy="12700"/>
          </a:xfrm>
          <a:prstGeom prst="straightConnector1">
            <a:avLst/>
          </a:prstGeom>
          <a:solidFill>
            <a:srgbClr val="DEE0E3">
              <a:alpha val="100000"/>
            </a:srgbClr>
          </a:solidFill>
          <a:ln w="25400" cap="flat" cmpd="sng">
            <a:solidFill>
              <a:srgbClr val="00FFFF">
                <a:alpha val="100000"/>
              </a:srgbClr>
            </a:solidFill>
            <a:prstDash val="solid"/>
            <a:round/>
            <a:headEnd type="none" w="lg" len="lg"/>
            <a:tailEnd type="triangle" w="med" len="med"/>
          </a:ln>
        </p:spPr>
      </p:cxnSp>
      <p:cxnSp>
        <p:nvCxnSpPr>
          <p:cNvPr id="31" name="Connector 31"/>
          <p:cNvCxnSpPr/>
          <p:nvPr/>
        </p:nvCxnSpPr>
        <p:spPr>
          <a:xfrm rot="5057364">
            <a:off x="3365500" y="5391467"/>
            <a:ext cx="127000" cy="12700"/>
          </a:xfrm>
          <a:prstGeom prst="straightConnector1">
            <a:avLst/>
          </a:prstGeom>
          <a:solidFill>
            <a:srgbClr val="DEE0E3">
              <a:alpha val="100000"/>
            </a:srgbClr>
          </a:solidFill>
          <a:ln w="25400" cap="flat" cmpd="sng">
            <a:solidFill>
              <a:srgbClr val="00FFFF">
                <a:alpha val="100000"/>
              </a:srgbClr>
            </a:solidFill>
            <a:prstDash val="solid"/>
            <a:round/>
            <a:headEnd type="none" w="lg" len="lg"/>
            <a:tailEnd type="triangle" w="med" len="med"/>
          </a:ln>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0A14">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alphaModFix amt="15000"/>
          </a:blip>
          <a:srcRect t="21875" b="21875"/>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1016000" y="660400"/>
            <a:ext cx="8890000" cy="812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800" dirty="0" err="1">
                <a:solidFill>
                  <a:srgbClr val="FFFFFF"/>
                </a:solidFill>
                <a:latin typeface="方正粗黑宋简体" panose="02000000000000000000" pitchFamily="2" charset="-122"/>
                <a:ea typeface="方正粗黑宋简体" panose="02000000000000000000" pitchFamily="2" charset="-122"/>
                <a:cs typeface="Poppins"/>
                <a:sym typeface="Poppins"/>
              </a:rPr>
              <a:t>实施计划与开源贡献</a:t>
            </a:r>
            <a:endParaRPr lang="en-US" sz="4800" dirty="0">
              <a:solidFill>
                <a:srgbClr val="FFFFFF"/>
              </a:solidFill>
              <a:latin typeface="方正粗黑宋简体" panose="02000000000000000000" pitchFamily="2" charset="-122"/>
              <a:ea typeface="方正粗黑宋简体" panose="02000000000000000000" pitchFamily="2" charset="-122"/>
              <a:cs typeface="Poppins"/>
            </a:endParaRPr>
          </a:p>
        </p:txBody>
      </p:sp>
      <p:cxnSp>
        <p:nvCxnSpPr>
          <p:cNvPr id="4" name="Connector 4"/>
          <p:cNvCxnSpPr/>
          <p:nvPr/>
        </p:nvCxnSpPr>
        <p:spPr>
          <a:xfrm rot="-4297">
            <a:off x="1016004" y="1644650"/>
            <a:ext cx="10160000" cy="12700"/>
          </a:xfrm>
          <a:prstGeom prst="straightConnector1">
            <a:avLst/>
          </a:prstGeom>
          <a:solidFill>
            <a:srgbClr val="DEE0E3">
              <a:alpha val="100000"/>
            </a:srgbClr>
          </a:solidFill>
          <a:ln w="12700" cap="flat" cmpd="sng">
            <a:solidFill>
              <a:srgbClr val="00FFFF">
                <a:alpha val="50000"/>
              </a:srgbClr>
            </a:solidFill>
            <a:prstDash val="solid"/>
            <a:round/>
            <a:headEnd type="none" w="med" len="med"/>
            <a:tailEnd type="none" w="med" len="med"/>
          </a:ln>
        </p:spPr>
      </p:cxnSp>
      <p:sp>
        <p:nvSpPr>
          <p:cNvPr id="5" name="AutoShape 5"/>
          <p:cNvSpPr/>
          <p:nvPr/>
        </p:nvSpPr>
        <p:spPr>
          <a:xfrm>
            <a:off x="1016000" y="1778000"/>
            <a:ext cx="457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00FFFF"/>
                </a:solidFill>
                <a:latin typeface="Poppins"/>
                <a:ea typeface="Poppins"/>
                <a:cs typeface="Poppins"/>
                <a:sym typeface="Poppins"/>
              </a:rPr>
              <a:t>实施计划</a:t>
            </a:r>
            <a:endParaRPr lang="en-US" sz="1100"/>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336800"/>
            <a:ext cx="304800" cy="304800"/>
          </a:xfrm>
          <a:prstGeom prst="rect">
            <a:avLst/>
          </a:prstGeom>
        </p:spPr>
      </p:pic>
      <p:sp>
        <p:nvSpPr>
          <p:cNvPr id="7" name="AutoShape 7"/>
          <p:cNvSpPr/>
          <p:nvPr/>
        </p:nvSpPr>
        <p:spPr>
          <a:xfrm>
            <a:off x="1422400" y="2336800"/>
            <a:ext cx="4826000" cy="914400"/>
          </a:xfrm>
          <a:prstGeom prst="rect">
            <a:avLst/>
          </a:prstGeom>
          <a:noFill/>
          <a:ln w="12700" cap="flat" cmpd="sng">
            <a:noFill/>
            <a:prstDash val="solid"/>
            <a:round/>
          </a:ln>
        </p:spPr>
        <p:txBody>
          <a:bodyPr vert="horz" wrap="square" lIns="0" tIns="0" rIns="0" bIns="0" rtlCol="0" anchor="t" anchorCtr="0"/>
          <a:lstStyle/>
          <a:p>
            <a:pPr indent="0" algn="l">
              <a:lnSpc>
                <a:spcPct val="133333"/>
              </a:lnSpc>
              <a:defRPr/>
            </a:pPr>
            <a:r>
              <a:rPr lang="en-US" sz="1700" b="1" i="0" u="none" strike="noStrike">
                <a:solidFill>
                  <a:srgbClr val="FFFFFF"/>
                </a:solidFill>
                <a:latin typeface="Roboto"/>
                <a:ea typeface="Roboto"/>
                <a:cs typeface="Roboto"/>
                <a:sym typeface="Roboto"/>
              </a:rPr>
              <a:t>第1-2周：</a:t>
            </a:r>
            <a:r>
              <a:rPr lang="en-US" sz="1700" b="0" i="0" u="none" strike="noStrike">
                <a:solidFill>
                  <a:srgbClr val="FFFFFF"/>
                </a:solidFill>
                <a:latin typeface="Roboto"/>
                <a:ea typeface="Roboto"/>
                <a:cs typeface="Roboto"/>
                <a:sym typeface="Roboto"/>
              </a:rPr>
              <a:t>完成OpenDigger API调研与对接，设计数据模型，确定核心指标。</a:t>
            </a:r>
            <a:endParaRPr lang="en-US" sz="1100"/>
          </a:p>
        </p:txBody>
      </p:sp>
      <p:pic>
        <p:nvPicPr>
          <p:cNvPr id="8" name="Picture 8"/>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3200400"/>
            <a:ext cx="304800" cy="304800"/>
          </a:xfrm>
          <a:prstGeom prst="rect">
            <a:avLst/>
          </a:prstGeom>
        </p:spPr>
      </p:pic>
      <p:sp>
        <p:nvSpPr>
          <p:cNvPr id="9" name="AutoShape 9"/>
          <p:cNvSpPr/>
          <p:nvPr/>
        </p:nvSpPr>
        <p:spPr>
          <a:xfrm>
            <a:off x="1422400" y="3200400"/>
            <a:ext cx="4826000" cy="812800"/>
          </a:xfrm>
          <a:prstGeom prst="rect">
            <a:avLst/>
          </a:prstGeom>
          <a:noFill/>
          <a:ln w="12700" cap="flat" cmpd="sng">
            <a:noFill/>
            <a:prstDash val="solid"/>
            <a:round/>
          </a:ln>
        </p:spPr>
        <p:txBody>
          <a:bodyPr vert="horz" wrap="square" lIns="0" tIns="0" rIns="0" bIns="0" rtlCol="0" anchor="t" anchorCtr="0"/>
          <a:lstStyle/>
          <a:p>
            <a:pPr indent="0" algn="l">
              <a:lnSpc>
                <a:spcPct val="133333"/>
              </a:lnSpc>
              <a:defRPr/>
            </a:pPr>
            <a:r>
              <a:rPr lang="en-US" sz="1700" b="1" i="0" u="none" strike="noStrike">
                <a:solidFill>
                  <a:srgbClr val="FFFFFF"/>
                </a:solidFill>
                <a:latin typeface="Roboto"/>
                <a:ea typeface="Roboto"/>
                <a:cs typeface="Roboto"/>
                <a:sym typeface="Roboto"/>
              </a:rPr>
              <a:t>第3-4周：</a:t>
            </a:r>
            <a:r>
              <a:rPr lang="en-US" sz="1700" b="0" i="0" u="none" strike="noStrike">
                <a:solidFill>
                  <a:srgbClr val="FFFFFF"/>
                </a:solidFill>
                <a:latin typeface="Roboto"/>
                <a:ea typeface="Roboto"/>
                <a:cs typeface="Roboto"/>
                <a:sym typeface="Roboto"/>
              </a:rPr>
              <a:t>使用MaxKB构建知识库，导入并清洗开源治理FAQ文档。</a:t>
            </a:r>
            <a:endParaRPr lang="en-US" sz="1100"/>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4064000"/>
            <a:ext cx="304800" cy="304800"/>
          </a:xfrm>
          <a:prstGeom prst="rect">
            <a:avLst/>
          </a:prstGeom>
        </p:spPr>
      </p:pic>
      <p:sp>
        <p:nvSpPr>
          <p:cNvPr id="11" name="AutoShape 11"/>
          <p:cNvSpPr/>
          <p:nvPr/>
        </p:nvSpPr>
        <p:spPr>
          <a:xfrm>
            <a:off x="1422400" y="4064000"/>
            <a:ext cx="4826000" cy="812800"/>
          </a:xfrm>
          <a:prstGeom prst="rect">
            <a:avLst/>
          </a:prstGeom>
          <a:noFill/>
          <a:ln w="12700" cap="flat" cmpd="sng">
            <a:noFill/>
            <a:prstDash val="solid"/>
            <a:round/>
          </a:ln>
        </p:spPr>
        <p:txBody>
          <a:bodyPr vert="horz" wrap="square" lIns="0" tIns="0" rIns="0" bIns="0" rtlCol="0" anchor="t" anchorCtr="0"/>
          <a:lstStyle/>
          <a:p>
            <a:pPr indent="0" algn="l">
              <a:lnSpc>
                <a:spcPct val="133333"/>
              </a:lnSpc>
              <a:defRPr/>
            </a:pPr>
            <a:r>
              <a:rPr lang="en-US" sz="1700" b="1" i="0" u="none" strike="noStrike">
                <a:solidFill>
                  <a:srgbClr val="FFFFFF"/>
                </a:solidFill>
                <a:latin typeface="Roboto"/>
                <a:ea typeface="Roboto"/>
                <a:cs typeface="Roboto"/>
                <a:sym typeface="Roboto"/>
              </a:rPr>
              <a:t>第5-6周：</a:t>
            </a:r>
            <a:r>
              <a:rPr lang="en-US" sz="1700" b="0" i="0" u="none" strike="noStrike">
                <a:solidFill>
                  <a:srgbClr val="FFFFFF"/>
                </a:solidFill>
                <a:latin typeface="Roboto"/>
                <a:ea typeface="Roboto"/>
                <a:cs typeface="Roboto"/>
                <a:sym typeface="Roboto"/>
              </a:rPr>
              <a:t>基于DeepSeek API开发Prompt模板，训练治理建议生成器。</a:t>
            </a:r>
            <a:endParaRPr lang="en-US" sz="1100"/>
          </a:p>
        </p:txBody>
      </p:sp>
      <p:pic>
        <p:nvPicPr>
          <p:cNvPr id="12" name="Picture 12"/>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4927600"/>
            <a:ext cx="304800" cy="304800"/>
          </a:xfrm>
          <a:prstGeom prst="rect">
            <a:avLst/>
          </a:prstGeom>
        </p:spPr>
      </p:pic>
      <p:sp>
        <p:nvSpPr>
          <p:cNvPr id="13" name="AutoShape 13"/>
          <p:cNvSpPr/>
          <p:nvPr/>
        </p:nvSpPr>
        <p:spPr>
          <a:xfrm>
            <a:off x="1422400" y="4927600"/>
            <a:ext cx="4826000" cy="812800"/>
          </a:xfrm>
          <a:prstGeom prst="rect">
            <a:avLst/>
          </a:prstGeom>
          <a:noFill/>
          <a:ln w="12700" cap="flat" cmpd="sng">
            <a:noFill/>
            <a:prstDash val="solid"/>
            <a:round/>
          </a:ln>
        </p:spPr>
        <p:txBody>
          <a:bodyPr vert="horz" wrap="square" lIns="0" tIns="0" rIns="0" bIns="0" rtlCol="0" anchor="t" anchorCtr="0"/>
          <a:lstStyle/>
          <a:p>
            <a:pPr indent="0" algn="l">
              <a:lnSpc>
                <a:spcPct val="133333"/>
              </a:lnSpc>
              <a:defRPr/>
            </a:pPr>
            <a:r>
              <a:rPr lang="en-US" sz="1700" b="1" i="0" u="none" strike="noStrike">
                <a:solidFill>
                  <a:srgbClr val="FFFFFF"/>
                </a:solidFill>
                <a:latin typeface="Roboto"/>
                <a:ea typeface="Roboto"/>
                <a:cs typeface="Roboto"/>
                <a:sym typeface="Roboto"/>
              </a:rPr>
              <a:t>第7-8周：</a:t>
            </a:r>
            <a:r>
              <a:rPr lang="en-US" sz="1700" b="0" i="0" u="none" strike="noStrike">
                <a:solidFill>
                  <a:srgbClr val="FFFFFF"/>
                </a:solidFill>
                <a:latin typeface="Roboto"/>
                <a:ea typeface="Roboto"/>
                <a:cs typeface="Roboto"/>
                <a:sym typeface="Roboto"/>
              </a:rPr>
              <a:t>开发报告生成模块，支持自定义模板与定时任务。</a:t>
            </a:r>
            <a:endParaRPr lang="en-US" sz="1100"/>
          </a:p>
        </p:txBody>
      </p:sp>
      <p:cxnSp>
        <p:nvCxnSpPr>
          <p:cNvPr id="14" name="Connector 14"/>
          <p:cNvCxnSpPr/>
          <p:nvPr/>
        </p:nvCxnSpPr>
        <p:spPr>
          <a:xfrm rot="5390177">
            <a:off x="4127499" y="4121159"/>
            <a:ext cx="4445000" cy="12700"/>
          </a:xfrm>
          <a:prstGeom prst="straightConnector1">
            <a:avLst/>
          </a:prstGeom>
          <a:solidFill>
            <a:srgbClr val="DEE0E3">
              <a:alpha val="100000"/>
            </a:srgbClr>
          </a:solidFill>
          <a:ln w="12700" cap="flat" cmpd="sng">
            <a:solidFill>
              <a:srgbClr val="00FFFF">
                <a:alpha val="50000"/>
              </a:srgbClr>
            </a:solidFill>
            <a:prstDash val="solid"/>
            <a:round/>
            <a:headEnd type="none" w="med" len="med"/>
            <a:tailEnd type="none" w="med" len="med"/>
          </a:ln>
        </p:spPr>
      </p:cxnSp>
      <p:sp>
        <p:nvSpPr>
          <p:cNvPr id="15" name="AutoShape 15"/>
          <p:cNvSpPr/>
          <p:nvPr/>
        </p:nvSpPr>
        <p:spPr>
          <a:xfrm>
            <a:off x="6604000" y="1778000"/>
            <a:ext cx="457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00FFFF"/>
                </a:solidFill>
                <a:latin typeface="Poppins"/>
                <a:ea typeface="Poppins"/>
                <a:cs typeface="Poppins"/>
                <a:sym typeface="Poppins"/>
              </a:rPr>
              <a:t>开源贡献计划</a:t>
            </a:r>
            <a:endParaRPr lang="en-US" sz="1100"/>
          </a:p>
        </p:txBody>
      </p:sp>
      <p:pic>
        <p:nvPicPr>
          <p:cNvPr id="16" name="Picture 16"/>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604000" y="2336800"/>
            <a:ext cx="304800" cy="304800"/>
          </a:xfrm>
          <a:prstGeom prst="rect">
            <a:avLst/>
          </a:prstGeom>
        </p:spPr>
      </p:pic>
      <p:sp>
        <p:nvSpPr>
          <p:cNvPr id="17" name="AutoShape 17"/>
          <p:cNvSpPr/>
          <p:nvPr/>
        </p:nvSpPr>
        <p:spPr>
          <a:xfrm>
            <a:off x="7010400" y="2336800"/>
            <a:ext cx="4826000" cy="863600"/>
          </a:xfrm>
          <a:prstGeom prst="rect">
            <a:avLst/>
          </a:prstGeom>
          <a:noFill/>
          <a:ln w="12700" cap="flat" cmpd="sng">
            <a:noFill/>
            <a:prstDash val="solid"/>
            <a:round/>
          </a:ln>
        </p:spPr>
        <p:txBody>
          <a:bodyPr vert="horz" wrap="square" lIns="0" tIns="0" rIns="0" bIns="0" rtlCol="0" anchor="t" anchorCtr="0"/>
          <a:lstStyle/>
          <a:p>
            <a:pPr indent="0" algn="l">
              <a:lnSpc>
                <a:spcPct val="133333"/>
              </a:lnSpc>
              <a:defRPr/>
            </a:pPr>
            <a:r>
              <a:rPr lang="en-US" sz="1700" b="1" i="0" u="none" strike="noStrike">
                <a:solidFill>
                  <a:srgbClr val="FFFFFF"/>
                </a:solidFill>
                <a:latin typeface="Roboto"/>
                <a:ea typeface="Roboto"/>
                <a:cs typeface="Roboto"/>
                <a:sym typeface="Roboto"/>
              </a:rPr>
              <a:t>完全开源</a:t>
            </a:r>
            <a:br>
              <a:rPr lang="en-US" sz="1700" b="0" i="0" u="none" strike="noStrike">
                <a:solidFill>
                  <a:srgbClr val="FFFFFF"/>
                </a:solidFill>
                <a:latin typeface="Roboto"/>
                <a:ea typeface="Roboto"/>
                <a:cs typeface="Roboto"/>
                <a:sym typeface="Roboto"/>
              </a:rPr>
            </a:br>
            <a:r>
              <a:rPr lang="en-US" sz="1700" b="0" i="0" u="none" strike="noStrike">
                <a:solidFill>
                  <a:srgbClr val="FFFFFF"/>
                </a:solidFill>
                <a:latin typeface="Roboto"/>
                <a:ea typeface="Roboto"/>
                <a:cs typeface="Roboto"/>
                <a:sym typeface="Roboto"/>
              </a:rPr>
              <a:t>代码采用MIT许可证，完全开放。</a:t>
            </a:r>
            <a:endParaRPr lang="en-US" sz="1100"/>
          </a:p>
        </p:txBody>
      </p:sp>
      <p:pic>
        <p:nvPicPr>
          <p:cNvPr id="18" name="Picture 18"/>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604000" y="3200400"/>
            <a:ext cx="304800" cy="304800"/>
          </a:xfrm>
          <a:prstGeom prst="rect">
            <a:avLst/>
          </a:prstGeom>
        </p:spPr>
      </p:pic>
      <p:sp>
        <p:nvSpPr>
          <p:cNvPr id="19" name="AutoShape 19"/>
          <p:cNvSpPr/>
          <p:nvPr/>
        </p:nvSpPr>
        <p:spPr>
          <a:xfrm>
            <a:off x="7010400" y="3200400"/>
            <a:ext cx="4826000" cy="863600"/>
          </a:xfrm>
          <a:prstGeom prst="rect">
            <a:avLst/>
          </a:prstGeom>
          <a:noFill/>
          <a:ln w="12700" cap="flat" cmpd="sng">
            <a:noFill/>
            <a:prstDash val="solid"/>
            <a:round/>
          </a:ln>
        </p:spPr>
        <p:txBody>
          <a:bodyPr vert="horz" wrap="square" lIns="0" tIns="0" rIns="0" bIns="0" rtlCol="0" anchor="t" anchorCtr="0"/>
          <a:lstStyle/>
          <a:p>
            <a:pPr indent="0" algn="l">
              <a:lnSpc>
                <a:spcPct val="133333"/>
              </a:lnSpc>
              <a:defRPr/>
            </a:pPr>
            <a:r>
              <a:rPr lang="en-US" sz="1700" b="1" i="0" u="none" strike="noStrike">
                <a:solidFill>
                  <a:srgbClr val="FFFFFF"/>
                </a:solidFill>
                <a:latin typeface="Roboto"/>
                <a:ea typeface="Roboto"/>
                <a:cs typeface="Roboto"/>
                <a:sym typeface="Roboto"/>
              </a:rPr>
              <a:t>详尽文档</a:t>
            </a:r>
            <a:br>
              <a:rPr lang="en-US" sz="1700" b="0" i="0" u="none" strike="noStrike">
                <a:solidFill>
                  <a:srgbClr val="FFFFFF"/>
                </a:solidFill>
                <a:latin typeface="Roboto"/>
                <a:ea typeface="Roboto"/>
                <a:cs typeface="Roboto"/>
                <a:sym typeface="Roboto"/>
              </a:rPr>
            </a:br>
            <a:r>
              <a:rPr lang="en-US" sz="1700" b="0" i="0" u="none" strike="noStrike">
                <a:solidFill>
                  <a:srgbClr val="FFFFFF"/>
                </a:solidFill>
                <a:latin typeface="Roboto"/>
                <a:ea typeface="Roboto"/>
                <a:cs typeface="Roboto"/>
                <a:sym typeface="Roboto"/>
              </a:rPr>
              <a:t>提供README，助快速部署与使用。</a:t>
            </a:r>
            <a:endParaRPr lang="en-US" sz="1100"/>
          </a:p>
        </p:txBody>
      </p:sp>
      <p:pic>
        <p:nvPicPr>
          <p:cNvPr id="20" name="Picture 20"/>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604000" y="4064000"/>
            <a:ext cx="304800" cy="304800"/>
          </a:xfrm>
          <a:prstGeom prst="rect">
            <a:avLst/>
          </a:prstGeom>
        </p:spPr>
      </p:pic>
      <p:sp>
        <p:nvSpPr>
          <p:cNvPr id="21" name="AutoShape 21"/>
          <p:cNvSpPr/>
          <p:nvPr/>
        </p:nvSpPr>
        <p:spPr>
          <a:xfrm>
            <a:off x="7010400" y="4064000"/>
            <a:ext cx="4826000" cy="863600"/>
          </a:xfrm>
          <a:prstGeom prst="rect">
            <a:avLst/>
          </a:prstGeom>
          <a:noFill/>
          <a:ln w="12700" cap="flat" cmpd="sng">
            <a:noFill/>
            <a:prstDash val="solid"/>
            <a:round/>
          </a:ln>
        </p:spPr>
        <p:txBody>
          <a:bodyPr vert="horz" wrap="square" lIns="0" tIns="0" rIns="0" bIns="0" rtlCol="0" anchor="t" anchorCtr="0"/>
          <a:lstStyle/>
          <a:p>
            <a:pPr indent="0" algn="l">
              <a:lnSpc>
                <a:spcPct val="133333"/>
              </a:lnSpc>
              <a:defRPr/>
            </a:pPr>
            <a:r>
              <a:rPr lang="en-US" sz="1700" b="1" i="0" u="none" strike="noStrike">
                <a:solidFill>
                  <a:srgbClr val="FFFFFF"/>
                </a:solidFill>
                <a:latin typeface="Roboto"/>
                <a:ea typeface="Roboto"/>
                <a:cs typeface="Roboto"/>
                <a:sym typeface="Roboto"/>
              </a:rPr>
              <a:t>社区协作</a:t>
            </a:r>
            <a:br>
              <a:rPr lang="en-US" sz="1700" b="0" i="0" u="none" strike="noStrike">
                <a:solidFill>
                  <a:srgbClr val="FFFFFF"/>
                </a:solidFill>
                <a:latin typeface="Roboto"/>
                <a:ea typeface="Roboto"/>
                <a:cs typeface="Roboto"/>
                <a:sym typeface="Roboto"/>
              </a:rPr>
            </a:br>
            <a:r>
              <a:rPr lang="en-US" sz="1700" b="0" i="0" u="none" strike="noStrike">
                <a:solidFill>
                  <a:srgbClr val="FFFFFF"/>
                </a:solidFill>
                <a:latin typeface="Roboto"/>
                <a:ea typeface="Roboto"/>
                <a:cs typeface="Roboto"/>
                <a:sym typeface="Roboto"/>
              </a:rPr>
              <a:t>通过GitHub邀请社区参与优化。</a:t>
            </a:r>
            <a:endParaRPr lang="en-US" sz="1100"/>
          </a:p>
        </p:txBody>
      </p:sp>
      <p:pic>
        <p:nvPicPr>
          <p:cNvPr id="22" name="Picture 22"/>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604000" y="4927600"/>
            <a:ext cx="304800" cy="304800"/>
          </a:xfrm>
          <a:prstGeom prst="rect">
            <a:avLst/>
          </a:prstGeom>
        </p:spPr>
      </p:pic>
      <p:sp>
        <p:nvSpPr>
          <p:cNvPr id="23" name="AutoShape 23"/>
          <p:cNvSpPr/>
          <p:nvPr/>
        </p:nvSpPr>
        <p:spPr>
          <a:xfrm>
            <a:off x="7010400" y="4927600"/>
            <a:ext cx="4826000" cy="863600"/>
          </a:xfrm>
          <a:prstGeom prst="rect">
            <a:avLst/>
          </a:prstGeom>
          <a:noFill/>
          <a:ln w="12700" cap="flat" cmpd="sng">
            <a:noFill/>
            <a:prstDash val="solid"/>
            <a:round/>
          </a:ln>
        </p:spPr>
        <p:txBody>
          <a:bodyPr vert="horz" wrap="square" lIns="0" tIns="0" rIns="0" bIns="0" rtlCol="0" anchor="t" anchorCtr="0"/>
          <a:lstStyle/>
          <a:p>
            <a:pPr indent="0" algn="l">
              <a:lnSpc>
                <a:spcPct val="133333"/>
              </a:lnSpc>
              <a:defRPr/>
            </a:pPr>
            <a:r>
              <a:rPr lang="en-US" sz="1700" b="1" i="0" u="none" strike="noStrike">
                <a:solidFill>
                  <a:srgbClr val="FFFFFF"/>
                </a:solidFill>
                <a:latin typeface="Roboto"/>
                <a:ea typeface="Roboto"/>
                <a:cs typeface="Roboto"/>
                <a:sym typeface="Roboto"/>
              </a:rPr>
              <a:t>规范流程</a:t>
            </a:r>
            <a:br>
              <a:rPr lang="en-US" sz="1700" b="0" i="0" u="none" strike="noStrike">
                <a:solidFill>
                  <a:srgbClr val="FFFFFF"/>
                </a:solidFill>
                <a:latin typeface="Roboto"/>
                <a:ea typeface="Roboto"/>
                <a:cs typeface="Roboto"/>
                <a:sym typeface="Roboto"/>
              </a:rPr>
            </a:br>
            <a:r>
              <a:rPr lang="en-US" sz="1700" b="0" i="0" u="none" strike="noStrike">
                <a:solidFill>
                  <a:srgbClr val="FFFFFF"/>
                </a:solidFill>
                <a:latin typeface="Roboto"/>
                <a:ea typeface="Roboto"/>
                <a:cs typeface="Roboto"/>
                <a:sym typeface="Roboto"/>
              </a:rPr>
              <a:t>遵循代码提交规范，记录协作过程。</a:t>
            </a:r>
            <a:endParaRPr lang="en-US" sz="1100"/>
          </a:p>
        </p:txBody>
      </p:sp>
      <p:pic>
        <p:nvPicPr>
          <p:cNvPr id="24" name="Picture 2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5791200"/>
            <a:ext cx="304800" cy="296883"/>
          </a:xfrm>
          <a:prstGeom prst="rect">
            <a:avLst/>
          </a:prstGeom>
        </p:spPr>
      </p:pic>
      <p:sp>
        <p:nvSpPr>
          <p:cNvPr id="25" name="AutoShape 25"/>
          <p:cNvSpPr/>
          <p:nvPr/>
        </p:nvSpPr>
        <p:spPr>
          <a:xfrm>
            <a:off x="1422400" y="5740400"/>
            <a:ext cx="4826000" cy="812800"/>
          </a:xfrm>
          <a:prstGeom prst="rect">
            <a:avLst/>
          </a:prstGeom>
          <a:noFill/>
          <a:ln w="12700" cap="flat" cmpd="sng">
            <a:noFill/>
            <a:prstDash val="solid"/>
            <a:round/>
          </a:ln>
        </p:spPr>
        <p:txBody>
          <a:bodyPr vert="horz" wrap="square" lIns="0" tIns="0" rIns="0" bIns="0" rtlCol="0" anchor="t" anchorCtr="0"/>
          <a:lstStyle/>
          <a:p>
            <a:pPr indent="0" algn="l">
              <a:lnSpc>
                <a:spcPct val="133333"/>
              </a:lnSpc>
              <a:defRPr/>
            </a:pPr>
            <a:r>
              <a:rPr lang="en-US" sz="1700" b="0" i="0" u="none" strike="noStrike">
                <a:solidFill>
                  <a:srgbClr val="FFFFFF"/>
                </a:solidFill>
                <a:latin typeface="Roboto"/>
                <a:ea typeface="Roboto"/>
                <a:cs typeface="Roboto"/>
                <a:sym typeface="Roboto"/>
              </a:rPr>
              <a:t>第9-10周：编写单元测试与集成测试，生成API文档和用户手册。</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0A14">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alphaModFix amt="20000"/>
            <a:extLst>
              <a:ext uri="{BEBA8EAE-BF5A-486C-A8C5-ECC9F3942E4B}">
                <a14:imgProps xmlns:a14="http://schemas.microsoft.com/office/drawing/2010/main">
                  <a14:imgLayer r:embed="rId4">
                    <a14:imgEffect>
                      <a14:colorTemperature colorTemp="4977"/>
                    </a14:imgEffect>
                    <a14:imgEffect>
                      <a14:brightnessContrast bright="20000"/>
                    </a14:imgEffect>
                  </a14:imgLayer>
                </a14:imgProps>
              </a:ext>
            </a:extLst>
          </a:blip>
          <a:srcRect t="21875" b="21875"/>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1016000" y="508000"/>
            <a:ext cx="10160000" cy="914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800" dirty="0" err="1">
                <a:solidFill>
                  <a:srgbClr val="FFFFFF"/>
                </a:solidFill>
                <a:latin typeface="方正粗黑宋简体" panose="02000000000000000000" pitchFamily="2" charset="-122"/>
                <a:ea typeface="方正粗黑宋简体" panose="02000000000000000000" pitchFamily="2" charset="-122"/>
                <a:cs typeface="Poppins"/>
                <a:sym typeface="Poppins"/>
              </a:rPr>
              <a:t>总结与展望</a:t>
            </a:r>
            <a:endParaRPr lang="en-US" sz="4800" dirty="0">
              <a:solidFill>
                <a:srgbClr val="FFFFFF"/>
              </a:solidFill>
              <a:latin typeface="方正粗黑宋简体" panose="02000000000000000000" pitchFamily="2" charset="-122"/>
              <a:ea typeface="方正粗黑宋简体" panose="02000000000000000000" pitchFamily="2" charset="-122"/>
              <a:cs typeface="Poppins"/>
            </a:endParaRPr>
          </a:p>
        </p:txBody>
      </p:sp>
      <p:cxnSp>
        <p:nvCxnSpPr>
          <p:cNvPr id="4" name="Connector 4"/>
          <p:cNvCxnSpPr/>
          <p:nvPr/>
        </p:nvCxnSpPr>
        <p:spPr>
          <a:xfrm rot="-4297">
            <a:off x="1016004" y="1517650"/>
            <a:ext cx="10160000" cy="12700"/>
          </a:xfrm>
          <a:prstGeom prst="straightConnector1">
            <a:avLst/>
          </a:prstGeom>
          <a:solidFill>
            <a:srgbClr val="DEE0E3">
              <a:alpha val="100000"/>
            </a:srgbClr>
          </a:solidFill>
          <a:ln w="25400" cap="flat" cmpd="sng">
            <a:solidFill>
              <a:srgbClr val="00FFFF">
                <a:alpha val="100000"/>
              </a:srgbClr>
            </a:solidFill>
            <a:prstDash val="solid"/>
            <a:round/>
            <a:headEnd type="none" w="lg" len="lg"/>
            <a:tailEnd type="none" w="lg" len="lg"/>
          </a:ln>
        </p:spPr>
      </p:cxnSp>
      <p:sp>
        <p:nvSpPr>
          <p:cNvPr id="5" name="AutoShape 5"/>
          <p:cNvSpPr/>
          <p:nvPr/>
        </p:nvSpPr>
        <p:spPr>
          <a:xfrm>
            <a:off x="1016000" y="1727200"/>
            <a:ext cx="3810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600" b="1" i="0" u="none" strike="noStrike">
                <a:solidFill>
                  <a:srgbClr val="00FFFF"/>
                </a:solidFill>
                <a:latin typeface="Poppins"/>
                <a:ea typeface="Poppins"/>
                <a:cs typeface="Poppins"/>
                <a:sym typeface="Poppins"/>
              </a:rPr>
              <a:t>项目总结</a:t>
            </a:r>
            <a:endParaRPr lang="en-US" sz="1100"/>
          </a:p>
        </p:txBody>
      </p:sp>
      <p:sp>
        <p:nvSpPr>
          <p:cNvPr id="6" name="AutoShape 6"/>
          <p:cNvSpPr/>
          <p:nvPr/>
        </p:nvSpPr>
        <p:spPr>
          <a:xfrm>
            <a:off x="1016000" y="2286000"/>
            <a:ext cx="10160000" cy="1219200"/>
          </a:xfrm>
          <a:prstGeom prst="rect">
            <a:avLst/>
          </a:prstGeom>
          <a:noFill/>
          <a:ln w="12700" cap="flat" cmpd="sng">
            <a:noFill/>
            <a:prstDash val="solid"/>
            <a:round/>
          </a:ln>
        </p:spPr>
        <p:txBody>
          <a:bodyPr vert="horz" wrap="square" lIns="0" tIns="0" rIns="0" bIns="0" rtlCol="0" anchor="t" anchorCtr="0"/>
          <a:lstStyle/>
          <a:p>
            <a:pPr indent="0" algn="l">
              <a:lnSpc>
                <a:spcPct val="133333"/>
              </a:lnSpc>
              <a:defRPr/>
            </a:pPr>
            <a:r>
              <a:rPr lang="en-US" sz="2000" b="0" i="0" u="none" strike="noStrike">
                <a:solidFill>
                  <a:srgbClr val="FFFFFF"/>
                </a:solidFill>
                <a:latin typeface="Roboto"/>
                <a:ea typeface="Roboto"/>
                <a:cs typeface="Roboto"/>
                <a:sym typeface="Roboto"/>
              </a:rPr>
              <a:t>智能社区助手是面向开源治理与运营场景的AI驱动工具，通过数据整合与智能分析，为社区治理者提供决策支持，提升治理效率与运营质量。</a:t>
            </a:r>
            <a:endParaRPr lang="en-US" sz="1100"/>
          </a:p>
        </p:txBody>
      </p:sp>
      <p:sp>
        <p:nvSpPr>
          <p:cNvPr id="7" name="AutoShape 7"/>
          <p:cNvSpPr/>
          <p:nvPr/>
        </p:nvSpPr>
        <p:spPr>
          <a:xfrm>
            <a:off x="1016000" y="3365102"/>
            <a:ext cx="3810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600" b="1" i="0" u="none" strike="noStrike">
                <a:solidFill>
                  <a:srgbClr val="00FFFF"/>
                </a:solidFill>
                <a:latin typeface="Poppins"/>
                <a:ea typeface="Poppins"/>
                <a:cs typeface="Poppins"/>
                <a:sym typeface="Poppins"/>
              </a:rPr>
              <a:t>未来展望</a:t>
            </a:r>
            <a:endParaRPr lang="en-US" sz="1100"/>
          </a:p>
        </p:txBody>
      </p:sp>
      <p:pic>
        <p:nvPicPr>
          <p:cNvPr id="8" name="Picture 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3974702"/>
            <a:ext cx="304800" cy="314093"/>
          </a:xfrm>
          <a:prstGeom prst="rect">
            <a:avLst/>
          </a:prstGeom>
        </p:spPr>
      </p:pic>
      <p:sp>
        <p:nvSpPr>
          <p:cNvPr id="9" name="AutoShape 9"/>
          <p:cNvSpPr/>
          <p:nvPr/>
        </p:nvSpPr>
        <p:spPr>
          <a:xfrm>
            <a:off x="1447800" y="3873102"/>
            <a:ext cx="10160000" cy="914400"/>
          </a:xfrm>
          <a:prstGeom prst="rect">
            <a:avLst/>
          </a:prstGeom>
          <a:noFill/>
          <a:ln w="12700" cap="flat" cmpd="sng">
            <a:noFill/>
            <a:prstDash val="solid"/>
            <a:round/>
          </a:ln>
        </p:spPr>
        <p:txBody>
          <a:bodyPr vert="horz" wrap="square" lIns="0" tIns="0" rIns="0" bIns="0" rtlCol="0" anchor="t" anchorCtr="0"/>
          <a:lstStyle/>
          <a:p>
            <a:pPr indent="0" algn="l">
              <a:lnSpc>
                <a:spcPct val="133333"/>
              </a:lnSpc>
              <a:defRPr/>
            </a:pPr>
            <a:r>
              <a:rPr lang="en-US" sz="2000" b="1" i="0" u="none" strike="noStrike" dirty="0" err="1">
                <a:solidFill>
                  <a:srgbClr val="FFFFFF"/>
                </a:solidFill>
                <a:latin typeface="Roboto"/>
                <a:ea typeface="Roboto"/>
                <a:cs typeface="Roboto"/>
                <a:sym typeface="Roboto"/>
              </a:rPr>
              <a:t>治理指标扩展：</a:t>
            </a:r>
            <a:r>
              <a:rPr lang="en-US" sz="2000" b="0" i="0" u="none" strike="noStrike" dirty="0" err="1">
                <a:solidFill>
                  <a:srgbClr val="FFFFFF"/>
                </a:solidFill>
                <a:latin typeface="Roboto"/>
                <a:ea typeface="Roboto"/>
                <a:cs typeface="Roboto"/>
                <a:sym typeface="Roboto"/>
              </a:rPr>
              <a:t>增加贡献者多样性、社区健康度等指标，计划引入代码质量（SonarQube指标</a:t>
            </a:r>
            <a:r>
              <a:rPr lang="en-US" sz="2000" b="0" i="0" u="none" strike="noStrike" dirty="0">
                <a:solidFill>
                  <a:srgbClr val="FFFFFF"/>
                </a:solidFill>
                <a:latin typeface="Roboto"/>
                <a:ea typeface="Roboto"/>
                <a:cs typeface="Roboto"/>
                <a:sym typeface="Roboto"/>
              </a:rPr>
              <a:t>）、</a:t>
            </a:r>
            <a:r>
              <a:rPr lang="en-US" sz="2000" b="0" i="0" u="none" strike="noStrike" dirty="0" err="1">
                <a:solidFill>
                  <a:srgbClr val="FFFFFF"/>
                </a:solidFill>
                <a:latin typeface="Roboto"/>
                <a:ea typeface="Roboto"/>
                <a:cs typeface="Roboto"/>
                <a:sym typeface="Roboto"/>
              </a:rPr>
              <a:t>安全漏洞（Snyk数据）等更深度的技术指标</a:t>
            </a:r>
            <a:r>
              <a:rPr lang="en-US" sz="2000" b="0" i="0" u="none" strike="noStrike" dirty="0">
                <a:solidFill>
                  <a:srgbClr val="FFFFFF"/>
                </a:solidFill>
                <a:latin typeface="Roboto"/>
                <a:ea typeface="Roboto"/>
                <a:cs typeface="Roboto"/>
                <a:sym typeface="Roboto"/>
              </a:rPr>
              <a:t>。</a:t>
            </a:r>
            <a:endParaRPr lang="en-US" sz="1100" dirty="0"/>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787502"/>
            <a:ext cx="304800" cy="314093"/>
          </a:xfrm>
          <a:prstGeom prst="rect">
            <a:avLst/>
          </a:prstGeom>
        </p:spPr>
      </p:pic>
      <p:sp>
        <p:nvSpPr>
          <p:cNvPr id="11" name="AutoShape 11"/>
          <p:cNvSpPr/>
          <p:nvPr/>
        </p:nvSpPr>
        <p:spPr>
          <a:xfrm>
            <a:off x="1447800" y="4685902"/>
            <a:ext cx="10160000" cy="914400"/>
          </a:xfrm>
          <a:prstGeom prst="rect">
            <a:avLst/>
          </a:prstGeom>
          <a:noFill/>
          <a:ln w="12700" cap="flat" cmpd="sng">
            <a:noFill/>
            <a:prstDash val="solid"/>
            <a:round/>
          </a:ln>
        </p:spPr>
        <p:txBody>
          <a:bodyPr vert="horz" wrap="square" lIns="0" tIns="0" rIns="0" bIns="0" rtlCol="0" anchor="t" anchorCtr="0"/>
          <a:lstStyle/>
          <a:p>
            <a:pPr indent="0" algn="l">
              <a:lnSpc>
                <a:spcPct val="133333"/>
              </a:lnSpc>
              <a:defRPr/>
            </a:pPr>
            <a:r>
              <a:rPr lang="en-US" sz="2000" b="1" i="0" u="none" strike="noStrike" dirty="0">
                <a:solidFill>
                  <a:srgbClr val="FFFFFF"/>
                </a:solidFill>
                <a:latin typeface="Roboto"/>
                <a:ea typeface="Roboto"/>
                <a:cs typeface="Roboto"/>
                <a:sym typeface="Roboto"/>
              </a:rPr>
              <a:t>治理模型优化：</a:t>
            </a:r>
            <a:r>
              <a:rPr lang="en-US" sz="2000" b="0" i="0" u="none" strike="noStrike" dirty="0">
                <a:solidFill>
                  <a:srgbClr val="FFFFFF"/>
                </a:solidFill>
                <a:latin typeface="Roboto"/>
                <a:ea typeface="Roboto"/>
                <a:cs typeface="Roboto"/>
                <a:sym typeface="Roboto"/>
              </a:rPr>
              <a:t>基于更多数据，优化AI治理建议模型，探索引入大语言模型（LLM）进行治理规则的自动学习和演进，提升模型的泛化能力。</a:t>
            </a:r>
            <a:endParaRPr lang="en-US" sz="1100" dirty="0"/>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5600302"/>
            <a:ext cx="304800" cy="314093"/>
          </a:xfrm>
          <a:prstGeom prst="rect">
            <a:avLst/>
          </a:prstGeom>
        </p:spPr>
      </p:pic>
      <p:sp>
        <p:nvSpPr>
          <p:cNvPr id="13" name="AutoShape 13"/>
          <p:cNvSpPr/>
          <p:nvPr/>
        </p:nvSpPr>
        <p:spPr>
          <a:xfrm>
            <a:off x="1447800" y="5498702"/>
            <a:ext cx="10160000" cy="914400"/>
          </a:xfrm>
          <a:prstGeom prst="rect">
            <a:avLst/>
          </a:prstGeom>
          <a:noFill/>
          <a:ln w="12700" cap="flat" cmpd="sng">
            <a:noFill/>
            <a:prstDash val="solid"/>
            <a:round/>
          </a:ln>
        </p:spPr>
        <p:txBody>
          <a:bodyPr vert="horz" wrap="square" lIns="0" tIns="0" rIns="0" bIns="0" rtlCol="0" anchor="t" anchorCtr="0"/>
          <a:lstStyle/>
          <a:p>
            <a:pPr indent="0" algn="l">
              <a:lnSpc>
                <a:spcPct val="133333"/>
              </a:lnSpc>
              <a:defRPr/>
            </a:pPr>
            <a:r>
              <a:rPr lang="en-US" sz="2000" b="1" i="0" u="none" strike="noStrike">
                <a:solidFill>
                  <a:srgbClr val="FFFFFF"/>
                </a:solidFill>
                <a:latin typeface="Roboto"/>
                <a:ea typeface="Roboto"/>
                <a:cs typeface="Roboto"/>
                <a:sym typeface="Roboto"/>
              </a:rPr>
              <a:t>多平台支持：</a:t>
            </a:r>
            <a:r>
              <a:rPr lang="en-US" sz="2000" b="0" i="0" u="none" strike="noStrike">
                <a:solidFill>
                  <a:srgbClr val="FFFFFF"/>
                </a:solidFill>
                <a:latin typeface="Roboto"/>
                <a:ea typeface="Roboto"/>
                <a:cs typeface="Roboto"/>
                <a:sym typeface="Roboto"/>
              </a:rPr>
              <a:t>扩展至GitLab、Bitbucket等平台，开发适配器模式，为不同的代码托管平台（GitLab, Bitbucket）提供统一的接入接口。</a:t>
            </a:r>
            <a:endParaRPr lang="en-US" sz="1100"/>
          </a:p>
        </p:txBody>
      </p:sp>
      <p:cxnSp>
        <p:nvCxnSpPr>
          <p:cNvPr id="14" name="Connector 14"/>
          <p:cNvCxnSpPr/>
          <p:nvPr/>
        </p:nvCxnSpPr>
        <p:spPr>
          <a:xfrm rot="-4297">
            <a:off x="1016004" y="3307952"/>
            <a:ext cx="10160000" cy="12700"/>
          </a:xfrm>
          <a:prstGeom prst="straightConnector1">
            <a:avLst/>
          </a:prstGeom>
          <a:solidFill>
            <a:srgbClr val="DEE0E3">
              <a:alpha val="100000"/>
            </a:srgbClr>
          </a:solidFill>
          <a:ln w="12700" cap="flat" cmpd="sng">
            <a:solidFill>
              <a:srgbClr val="00FFFF">
                <a:alpha val="30000"/>
              </a:srgbClr>
            </a:solidFill>
            <a:prstDash val="dash"/>
            <a:round/>
            <a:headEnd type="none" w="med" len="med"/>
            <a:tailEnd type="none" w="med" len="med"/>
          </a:ln>
        </p:spPr>
      </p:cxnSp>
      <p:sp>
        <p:nvSpPr>
          <p:cNvPr id="15" name="AutoShape 15"/>
          <p:cNvSpPr/>
          <p:nvPr/>
        </p:nvSpPr>
        <p:spPr>
          <a:xfrm>
            <a:off x="-12700000" y="-12700000"/>
            <a:ext cx="12700" cy="12700"/>
          </a:xfrm>
          <a:prstGeom prst="rect">
            <a:avLst/>
          </a:prstGeom>
          <a:noFill/>
          <a:ln w="12700" cap="flat" cmpd="sng">
            <a:noFill/>
            <a:prstDash val="solid"/>
            <a:round/>
          </a:ln>
        </p:spPr>
        <p:txBody>
          <a:bodyPr vert="horz" wrap="square" lIns="0" tIns="0" rIns="0" bIns="0" rtlCol="0" anchor="ctr" anchorCtr="0"/>
          <a:lstStyle/>
          <a:p>
            <a:pPr algn="l">
              <a:defRPr/>
            </a:pPr>
            <a:endParaRPr/>
          </a:p>
        </p:txBody>
      </p:sp>
      <p:sp>
        <p:nvSpPr>
          <p:cNvPr id="16" name="AutoShape 16"/>
          <p:cNvSpPr/>
          <p:nvPr/>
        </p:nvSpPr>
        <p:spPr>
          <a:xfrm>
            <a:off x="-12700000" y="-12700000"/>
            <a:ext cx="12700" cy="12700"/>
          </a:xfrm>
          <a:prstGeom prst="roundRect">
            <a:avLst>
              <a:gd name="adj" fmla="val 1600000"/>
            </a:avLst>
          </a:prstGeom>
          <a:solidFill>
            <a:srgbClr val="00FFFF">
              <a:alpha val="10000"/>
            </a:srgbClr>
          </a:solidFill>
          <a:ln w="12700" cap="flat" cmpd="sng">
            <a:solidFill>
              <a:srgbClr val="00FFFF">
                <a:alpha val="100000"/>
              </a:srgbClr>
            </a:solidFill>
            <a:prstDash val="solid"/>
            <a:round/>
          </a:ln>
        </p:spPr>
        <p:txBody>
          <a:bodyPr vert="horz" wrap="square" lIns="0" tIns="0" rIns="0" bIns="0" rtlCol="0" anchor="ctr" anchorCtr="0"/>
          <a:lstStyle/>
          <a:p>
            <a:pPr algn="ctr">
              <a:defRPr/>
            </a:pPr>
            <a:endParaRPr/>
          </a:p>
        </p:txBody>
      </p:sp>
      <p:pic>
        <p:nvPicPr>
          <p:cNvPr id="17" name="Picture 17"/>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2700000" y="-12700000"/>
            <a:ext cx="12700" cy="12700"/>
          </a:xfrm>
          <a:prstGeom prst="rect">
            <a:avLst/>
          </a:prstGeom>
        </p:spPr>
      </p:pic>
      <p:cxnSp>
        <p:nvCxnSpPr>
          <p:cNvPr id="18" name="Connector 18"/>
          <p:cNvCxnSpPr/>
          <p:nvPr/>
        </p:nvCxnSpPr>
        <p:spPr>
          <a:xfrm rot="-4297">
            <a:off x="1016004" y="6406752"/>
            <a:ext cx="10160000" cy="12700"/>
          </a:xfrm>
          <a:prstGeom prst="straightConnector1">
            <a:avLst/>
          </a:prstGeom>
          <a:solidFill>
            <a:srgbClr val="DEE0E3">
              <a:alpha val="100000"/>
            </a:srgbClr>
          </a:solidFill>
          <a:ln w="12700" cap="flat" cmpd="sng">
            <a:solidFill>
              <a:srgbClr val="00FFFF">
                <a:alpha val="30000"/>
              </a:srgbClr>
            </a:solidFill>
            <a:prstDash val="solid"/>
            <a:round/>
            <a:headEnd type="none" w="med" len="med"/>
            <a:tailEnd type="none" w="med" len="med"/>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0A14">
            <a:alpha val="100000"/>
          </a:srgbClr>
        </a:solidFill>
        <a:effectLst/>
      </p:bgPr>
    </p:bg>
    <p:spTree>
      <p:nvGrpSpPr>
        <p:cNvPr id="1" name="">
          <a:extLst>
            <a:ext uri="{FF2B5EF4-FFF2-40B4-BE49-F238E27FC236}">
              <a16:creationId xmlns:a16="http://schemas.microsoft.com/office/drawing/2014/main" id="{668689F3-600D-5F98-188B-B296D7B90A54}"/>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883BC133-C482-CD15-ED67-C2B2B4663D79}"/>
              </a:ext>
            </a:extLst>
          </p:cNvPr>
          <p:cNvPicPr>
            <a:picLocks noChangeAspect="1"/>
          </p:cNvPicPr>
          <p:nvPr/>
        </p:nvPicPr>
        <p:blipFill>
          <a:blip r:embed="rId3">
            <a:alphaModFix amt="15000"/>
          </a:blip>
          <a:srcRect t="21875" b="21875"/>
          <a:stretch>
            <a:fillRect/>
          </a:stretch>
        </p:blipFill>
        <p:spPr>
          <a:xfrm>
            <a:off x="0" y="0"/>
            <a:ext cx="12192000" cy="6858000"/>
          </a:xfrm>
          <a:prstGeom prst="rect">
            <a:avLst/>
          </a:prstGeom>
          <a:noFill/>
          <a:ln w="25400" cap="flat" cmpd="sng">
            <a:noFill/>
            <a:prstDash val="solid"/>
            <a:round/>
          </a:ln>
        </p:spPr>
      </p:pic>
      <p:sp>
        <p:nvSpPr>
          <p:cNvPr id="3" name="AutoShape 3">
            <a:extLst>
              <a:ext uri="{FF2B5EF4-FFF2-40B4-BE49-F238E27FC236}">
                <a16:creationId xmlns:a16="http://schemas.microsoft.com/office/drawing/2014/main" id="{60D8F075-AA07-1092-5D72-7508DC6B0D72}"/>
              </a:ext>
            </a:extLst>
          </p:cNvPr>
          <p:cNvSpPr/>
          <p:nvPr/>
        </p:nvSpPr>
        <p:spPr>
          <a:xfrm>
            <a:off x="335516" y="195283"/>
            <a:ext cx="8890000" cy="812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4400" dirty="0">
                <a:solidFill>
                  <a:srgbClr val="FFFFFF"/>
                </a:solidFill>
                <a:latin typeface="方正粗黑宋简体" panose="02000000000000000000" pitchFamily="2" charset="-122"/>
                <a:ea typeface="方正粗黑宋简体" panose="02000000000000000000" pitchFamily="2" charset="-122"/>
                <a:cs typeface="Poppins"/>
                <a:sym typeface="Poppins"/>
              </a:rPr>
              <a:t>作品部分功能展示</a:t>
            </a:r>
            <a:endParaRPr lang="en-US" sz="4400" dirty="0">
              <a:solidFill>
                <a:srgbClr val="FFFFFF"/>
              </a:solidFill>
              <a:latin typeface="方正粗黑宋简体" panose="02000000000000000000" pitchFamily="2" charset="-122"/>
              <a:ea typeface="方正粗黑宋简体" panose="02000000000000000000" pitchFamily="2" charset="-122"/>
              <a:cs typeface="Poppins"/>
            </a:endParaRPr>
          </a:p>
        </p:txBody>
      </p:sp>
      <p:cxnSp>
        <p:nvCxnSpPr>
          <p:cNvPr id="4" name="Connector 4">
            <a:extLst>
              <a:ext uri="{FF2B5EF4-FFF2-40B4-BE49-F238E27FC236}">
                <a16:creationId xmlns:a16="http://schemas.microsoft.com/office/drawing/2014/main" id="{7507B950-C062-011B-BCE1-2F891E19F33F}"/>
              </a:ext>
            </a:extLst>
          </p:cNvPr>
          <p:cNvCxnSpPr/>
          <p:nvPr/>
        </p:nvCxnSpPr>
        <p:spPr>
          <a:xfrm rot="-4297">
            <a:off x="831706" y="1123949"/>
            <a:ext cx="10160000" cy="12700"/>
          </a:xfrm>
          <a:prstGeom prst="straightConnector1">
            <a:avLst/>
          </a:prstGeom>
          <a:solidFill>
            <a:srgbClr val="DEE0E3">
              <a:alpha val="100000"/>
            </a:srgbClr>
          </a:solidFill>
          <a:ln w="12700" cap="flat" cmpd="sng">
            <a:solidFill>
              <a:srgbClr val="00FFFF">
                <a:alpha val="50000"/>
              </a:srgbClr>
            </a:solidFill>
            <a:prstDash val="solid"/>
            <a:round/>
            <a:headEnd type="none" w="med" len="med"/>
            <a:tailEnd type="none" w="med" len="med"/>
          </a:ln>
        </p:spPr>
      </p:cxnSp>
      <p:cxnSp>
        <p:nvCxnSpPr>
          <p:cNvPr id="30" name="Connector 14">
            <a:extLst>
              <a:ext uri="{FF2B5EF4-FFF2-40B4-BE49-F238E27FC236}">
                <a16:creationId xmlns:a16="http://schemas.microsoft.com/office/drawing/2014/main" id="{F6073243-E8C0-DE48-C153-327288779E4E}"/>
              </a:ext>
            </a:extLst>
          </p:cNvPr>
          <p:cNvCxnSpPr>
            <a:cxnSpLocks/>
          </p:cNvCxnSpPr>
          <p:nvPr/>
        </p:nvCxnSpPr>
        <p:spPr>
          <a:xfrm>
            <a:off x="5954527" y="1463725"/>
            <a:ext cx="20971" cy="4886293"/>
          </a:xfrm>
          <a:prstGeom prst="straightConnector1">
            <a:avLst/>
          </a:prstGeom>
          <a:solidFill>
            <a:srgbClr val="DEE0E3">
              <a:alpha val="100000"/>
            </a:srgbClr>
          </a:solidFill>
          <a:ln w="12700" cap="flat" cmpd="sng">
            <a:solidFill>
              <a:srgbClr val="00FFFF">
                <a:alpha val="50000"/>
              </a:srgbClr>
            </a:solidFill>
            <a:prstDash val="solid"/>
            <a:round/>
            <a:headEnd type="none" w="med" len="med"/>
            <a:tailEnd type="none" w="med" len="med"/>
          </a:ln>
        </p:spPr>
      </p:cxnSp>
      <p:pic>
        <p:nvPicPr>
          <p:cNvPr id="33" name="图片 32" descr="图形用户界面, 文本, 应用程序, 聊天或短信&#10;&#10;AI 生成的内容可能不正确。">
            <a:extLst>
              <a:ext uri="{FF2B5EF4-FFF2-40B4-BE49-F238E27FC236}">
                <a16:creationId xmlns:a16="http://schemas.microsoft.com/office/drawing/2014/main" id="{71BE82C2-0B56-56C7-614B-CB5DBC5B45D4}"/>
              </a:ext>
            </a:extLst>
          </p:cNvPr>
          <p:cNvPicPr>
            <a:picLocks noChangeAspect="1"/>
          </p:cNvPicPr>
          <p:nvPr/>
        </p:nvPicPr>
        <p:blipFill>
          <a:blip r:embed="rId4"/>
          <a:stretch>
            <a:fillRect/>
          </a:stretch>
        </p:blipFill>
        <p:spPr>
          <a:xfrm>
            <a:off x="241004" y="1490180"/>
            <a:ext cx="5373280" cy="488572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35" name="图片 34" descr="图形用户界面, 文本, 应用程序&#10;&#10;AI 生成的内容可能不正确。">
            <a:extLst>
              <a:ext uri="{FF2B5EF4-FFF2-40B4-BE49-F238E27FC236}">
                <a16:creationId xmlns:a16="http://schemas.microsoft.com/office/drawing/2014/main" id="{BD05E322-DCB3-7F40-4A72-F92B987ACA97}"/>
              </a:ext>
            </a:extLst>
          </p:cNvPr>
          <p:cNvPicPr>
            <a:picLocks noChangeAspect="1"/>
          </p:cNvPicPr>
          <p:nvPr/>
        </p:nvPicPr>
        <p:blipFill>
          <a:blip r:embed="rId5"/>
          <a:stretch>
            <a:fillRect/>
          </a:stretch>
        </p:blipFill>
        <p:spPr>
          <a:xfrm>
            <a:off x="6315741" y="1463725"/>
            <a:ext cx="5435281" cy="492731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923710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A0A14">
            <a:alpha val="100000"/>
          </a:srgbClr>
        </a:solidFill>
        <a:effectLst/>
      </p:bgPr>
    </p:bg>
    <p:spTree>
      <p:nvGrpSpPr>
        <p:cNvPr id="1" name="">
          <a:extLst>
            <a:ext uri="{FF2B5EF4-FFF2-40B4-BE49-F238E27FC236}">
              <a16:creationId xmlns:a16="http://schemas.microsoft.com/office/drawing/2014/main" id="{696BF98C-3CD1-EE13-E8C0-1FA8D8F43A2F}"/>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9CCC7290-C6EF-251D-2AB6-979EF06679FD}"/>
              </a:ext>
            </a:extLst>
          </p:cNvPr>
          <p:cNvPicPr>
            <a:picLocks noChangeAspect="1"/>
          </p:cNvPicPr>
          <p:nvPr/>
        </p:nvPicPr>
        <p:blipFill>
          <a:blip r:embed="rId3">
            <a:alphaModFix amt="15000"/>
          </a:blip>
          <a:srcRect t="21875" b="21875"/>
          <a:stretch>
            <a:fillRect/>
          </a:stretch>
        </p:blipFill>
        <p:spPr>
          <a:xfrm>
            <a:off x="0" y="0"/>
            <a:ext cx="12192000" cy="6858000"/>
          </a:xfrm>
          <a:prstGeom prst="rect">
            <a:avLst/>
          </a:prstGeom>
          <a:noFill/>
          <a:ln w="25400" cap="flat" cmpd="sng">
            <a:noFill/>
            <a:prstDash val="solid"/>
            <a:round/>
          </a:ln>
        </p:spPr>
      </p:pic>
      <p:sp>
        <p:nvSpPr>
          <p:cNvPr id="3" name="AutoShape 3">
            <a:extLst>
              <a:ext uri="{FF2B5EF4-FFF2-40B4-BE49-F238E27FC236}">
                <a16:creationId xmlns:a16="http://schemas.microsoft.com/office/drawing/2014/main" id="{9DDCB795-12BE-7EE6-C605-9C2144FC3AB0}"/>
              </a:ext>
            </a:extLst>
          </p:cNvPr>
          <p:cNvSpPr/>
          <p:nvPr/>
        </p:nvSpPr>
        <p:spPr>
          <a:xfrm>
            <a:off x="335516" y="195283"/>
            <a:ext cx="8890000" cy="812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4400" dirty="0">
                <a:solidFill>
                  <a:srgbClr val="FFFFFF"/>
                </a:solidFill>
                <a:latin typeface="方正粗黑宋简体" panose="02000000000000000000" pitchFamily="2" charset="-122"/>
                <a:ea typeface="方正粗黑宋简体" panose="02000000000000000000" pitchFamily="2" charset="-122"/>
                <a:cs typeface="Poppins"/>
                <a:sym typeface="Poppins"/>
              </a:rPr>
              <a:t>作品部分功能展示</a:t>
            </a:r>
            <a:endParaRPr lang="en-US" sz="4400" dirty="0">
              <a:solidFill>
                <a:srgbClr val="FFFFFF"/>
              </a:solidFill>
              <a:latin typeface="方正粗黑宋简体" panose="02000000000000000000" pitchFamily="2" charset="-122"/>
              <a:ea typeface="方正粗黑宋简体" panose="02000000000000000000" pitchFamily="2" charset="-122"/>
              <a:cs typeface="Poppins"/>
            </a:endParaRPr>
          </a:p>
        </p:txBody>
      </p:sp>
      <p:cxnSp>
        <p:nvCxnSpPr>
          <p:cNvPr id="4" name="Connector 4">
            <a:extLst>
              <a:ext uri="{FF2B5EF4-FFF2-40B4-BE49-F238E27FC236}">
                <a16:creationId xmlns:a16="http://schemas.microsoft.com/office/drawing/2014/main" id="{AF67A82A-7502-1872-D3D9-F0CDEF6CE654}"/>
              </a:ext>
            </a:extLst>
          </p:cNvPr>
          <p:cNvCxnSpPr/>
          <p:nvPr/>
        </p:nvCxnSpPr>
        <p:spPr>
          <a:xfrm rot="-4297">
            <a:off x="831706" y="1123949"/>
            <a:ext cx="10160000" cy="12700"/>
          </a:xfrm>
          <a:prstGeom prst="straightConnector1">
            <a:avLst/>
          </a:prstGeom>
          <a:solidFill>
            <a:srgbClr val="DEE0E3">
              <a:alpha val="100000"/>
            </a:srgbClr>
          </a:solidFill>
          <a:ln w="12700" cap="flat" cmpd="sng">
            <a:solidFill>
              <a:srgbClr val="00FFFF">
                <a:alpha val="50000"/>
              </a:srgbClr>
            </a:solidFill>
            <a:prstDash val="solid"/>
            <a:round/>
            <a:headEnd type="none" w="med" len="med"/>
            <a:tailEnd type="none" w="med" len="med"/>
          </a:ln>
        </p:spPr>
      </p:cxnSp>
      <p:pic>
        <p:nvPicPr>
          <p:cNvPr id="6" name="图片 5" descr="图形用户界面, 应用程序&#10;&#10;AI 生成的内容可能不正确。">
            <a:extLst>
              <a:ext uri="{FF2B5EF4-FFF2-40B4-BE49-F238E27FC236}">
                <a16:creationId xmlns:a16="http://schemas.microsoft.com/office/drawing/2014/main" id="{2ADA2D85-B036-A256-B0BA-E41C2275733C}"/>
              </a:ext>
            </a:extLst>
          </p:cNvPr>
          <p:cNvPicPr>
            <a:picLocks noChangeAspect="1"/>
          </p:cNvPicPr>
          <p:nvPr/>
        </p:nvPicPr>
        <p:blipFill>
          <a:blip r:embed="rId4"/>
          <a:stretch>
            <a:fillRect/>
          </a:stretch>
        </p:blipFill>
        <p:spPr>
          <a:xfrm>
            <a:off x="2706083" y="1166183"/>
            <a:ext cx="6636389" cy="306294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8" name="图片 7" descr="图形用户界面, 应用程序&#10;&#10;AI 生成的内容可能不正确。">
            <a:extLst>
              <a:ext uri="{FF2B5EF4-FFF2-40B4-BE49-F238E27FC236}">
                <a16:creationId xmlns:a16="http://schemas.microsoft.com/office/drawing/2014/main" id="{96341910-0567-3389-E806-64550345378F}"/>
              </a:ext>
            </a:extLst>
          </p:cNvPr>
          <p:cNvPicPr>
            <a:picLocks noChangeAspect="1"/>
          </p:cNvPicPr>
          <p:nvPr/>
        </p:nvPicPr>
        <p:blipFill>
          <a:blip r:embed="rId5"/>
          <a:stretch>
            <a:fillRect/>
          </a:stretch>
        </p:blipFill>
        <p:spPr>
          <a:xfrm>
            <a:off x="2706082" y="3712213"/>
            <a:ext cx="6636389" cy="301326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6868601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A0A14">
            <a:alpha val="100000"/>
          </a:srgbClr>
        </a:solidFill>
        <a:effectLst/>
      </p:bgPr>
    </p:bg>
    <p:spTree>
      <p:nvGrpSpPr>
        <p:cNvPr id="1" name="">
          <a:extLst>
            <a:ext uri="{FF2B5EF4-FFF2-40B4-BE49-F238E27FC236}">
              <a16:creationId xmlns:a16="http://schemas.microsoft.com/office/drawing/2014/main" id="{F94921CA-4B7A-6A45-07D6-B6751F42E436}"/>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B9ED76E8-AF20-391D-0E66-F0BA16C32844}"/>
              </a:ext>
            </a:extLst>
          </p:cNvPr>
          <p:cNvPicPr>
            <a:picLocks noChangeAspect="1"/>
          </p:cNvPicPr>
          <p:nvPr/>
        </p:nvPicPr>
        <p:blipFill>
          <a:blip r:embed="rId3">
            <a:alphaModFix amt="15000"/>
          </a:blip>
          <a:srcRect t="21875" b="21875"/>
          <a:stretch>
            <a:fillRect/>
          </a:stretch>
        </p:blipFill>
        <p:spPr>
          <a:xfrm>
            <a:off x="0" y="0"/>
            <a:ext cx="12192000" cy="6858000"/>
          </a:xfrm>
          <a:prstGeom prst="rect">
            <a:avLst/>
          </a:prstGeom>
          <a:noFill/>
          <a:ln w="25400" cap="flat" cmpd="sng">
            <a:noFill/>
            <a:prstDash val="solid"/>
            <a:round/>
          </a:ln>
        </p:spPr>
      </p:pic>
      <p:sp>
        <p:nvSpPr>
          <p:cNvPr id="3" name="AutoShape 3">
            <a:extLst>
              <a:ext uri="{FF2B5EF4-FFF2-40B4-BE49-F238E27FC236}">
                <a16:creationId xmlns:a16="http://schemas.microsoft.com/office/drawing/2014/main" id="{BBF38FB5-BE05-BA97-F76B-884146650F2B}"/>
              </a:ext>
            </a:extLst>
          </p:cNvPr>
          <p:cNvSpPr/>
          <p:nvPr/>
        </p:nvSpPr>
        <p:spPr>
          <a:xfrm>
            <a:off x="335516" y="195283"/>
            <a:ext cx="8890000" cy="812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4400" dirty="0">
                <a:solidFill>
                  <a:srgbClr val="FFFFFF"/>
                </a:solidFill>
                <a:latin typeface="方正粗黑宋简体" panose="02000000000000000000" pitchFamily="2" charset="-122"/>
                <a:ea typeface="方正粗黑宋简体" panose="02000000000000000000" pitchFamily="2" charset="-122"/>
                <a:cs typeface="Poppins"/>
                <a:sym typeface="Poppins"/>
              </a:rPr>
              <a:t>作品部分功能展示</a:t>
            </a:r>
            <a:endParaRPr lang="en-US" sz="4400" dirty="0">
              <a:solidFill>
                <a:srgbClr val="FFFFFF"/>
              </a:solidFill>
              <a:latin typeface="方正粗黑宋简体" panose="02000000000000000000" pitchFamily="2" charset="-122"/>
              <a:ea typeface="方正粗黑宋简体" panose="02000000000000000000" pitchFamily="2" charset="-122"/>
              <a:cs typeface="Poppins"/>
            </a:endParaRPr>
          </a:p>
        </p:txBody>
      </p:sp>
      <p:cxnSp>
        <p:nvCxnSpPr>
          <p:cNvPr id="4" name="Connector 4">
            <a:extLst>
              <a:ext uri="{FF2B5EF4-FFF2-40B4-BE49-F238E27FC236}">
                <a16:creationId xmlns:a16="http://schemas.microsoft.com/office/drawing/2014/main" id="{497B9635-6B33-9AD9-1CE6-B67B90418D37}"/>
              </a:ext>
            </a:extLst>
          </p:cNvPr>
          <p:cNvCxnSpPr/>
          <p:nvPr/>
        </p:nvCxnSpPr>
        <p:spPr>
          <a:xfrm rot="-4297">
            <a:off x="831706" y="1123949"/>
            <a:ext cx="10160000" cy="12700"/>
          </a:xfrm>
          <a:prstGeom prst="straightConnector1">
            <a:avLst/>
          </a:prstGeom>
          <a:solidFill>
            <a:srgbClr val="DEE0E3">
              <a:alpha val="100000"/>
            </a:srgbClr>
          </a:solidFill>
          <a:ln w="12700" cap="flat" cmpd="sng">
            <a:solidFill>
              <a:srgbClr val="00FFFF">
                <a:alpha val="50000"/>
              </a:srgbClr>
            </a:solidFill>
            <a:prstDash val="solid"/>
            <a:round/>
            <a:headEnd type="none" w="med" len="med"/>
            <a:tailEnd type="none" w="med" len="med"/>
          </a:ln>
        </p:spPr>
      </p:cxnSp>
      <p:pic>
        <p:nvPicPr>
          <p:cNvPr id="6" name="图片 5" descr="图形用户界面&#10;&#10;AI 生成的内容可能不正确。">
            <a:extLst>
              <a:ext uri="{FF2B5EF4-FFF2-40B4-BE49-F238E27FC236}">
                <a16:creationId xmlns:a16="http://schemas.microsoft.com/office/drawing/2014/main" id="{C308DBBD-6453-0CE7-A29D-E35D837915FA}"/>
              </a:ext>
            </a:extLst>
          </p:cNvPr>
          <p:cNvPicPr>
            <a:picLocks noChangeAspect="1"/>
          </p:cNvPicPr>
          <p:nvPr/>
        </p:nvPicPr>
        <p:blipFill>
          <a:blip r:embed="rId4"/>
          <a:stretch>
            <a:fillRect/>
          </a:stretch>
        </p:blipFill>
        <p:spPr>
          <a:xfrm>
            <a:off x="176028" y="1252515"/>
            <a:ext cx="11839944" cy="5391040"/>
          </a:xfrm>
          <a:prstGeom prst="rect">
            <a:avLst/>
          </a:prstGeom>
          <a:ln>
            <a:noFill/>
          </a:ln>
          <a:effectLst>
            <a:softEdge rad="112500"/>
          </a:effectLst>
        </p:spPr>
      </p:pic>
    </p:spTree>
    <p:extLst>
      <p:ext uri="{BB962C8B-B14F-4D97-AF65-F5344CB8AC3E}">
        <p14:creationId xmlns:p14="http://schemas.microsoft.com/office/powerpoint/2010/main" val="14053079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A0A14">
            <a:alpha val="100000"/>
          </a:srgbClr>
        </a:solidFill>
        <a:effectLst/>
      </p:bgPr>
    </p:bg>
    <p:spTree>
      <p:nvGrpSpPr>
        <p:cNvPr id="1" name="">
          <a:extLst>
            <a:ext uri="{FF2B5EF4-FFF2-40B4-BE49-F238E27FC236}">
              <a16:creationId xmlns:a16="http://schemas.microsoft.com/office/drawing/2014/main" id="{AC5FE10E-A24B-D66E-640C-857A84E06A3F}"/>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FD401D78-7D8C-5DAD-77C8-D12B7FE24048}"/>
              </a:ext>
            </a:extLst>
          </p:cNvPr>
          <p:cNvPicPr>
            <a:picLocks noChangeAspect="1"/>
          </p:cNvPicPr>
          <p:nvPr/>
        </p:nvPicPr>
        <p:blipFill>
          <a:blip r:embed="rId3">
            <a:alphaModFix amt="15000"/>
          </a:blip>
          <a:srcRect t="21875" b="21875"/>
          <a:stretch>
            <a:fillRect/>
          </a:stretch>
        </p:blipFill>
        <p:spPr>
          <a:xfrm>
            <a:off x="0" y="0"/>
            <a:ext cx="12192000" cy="6858000"/>
          </a:xfrm>
          <a:prstGeom prst="rect">
            <a:avLst/>
          </a:prstGeom>
          <a:noFill/>
          <a:ln w="25400" cap="flat" cmpd="sng">
            <a:noFill/>
            <a:prstDash val="solid"/>
            <a:round/>
          </a:ln>
        </p:spPr>
      </p:pic>
      <p:sp>
        <p:nvSpPr>
          <p:cNvPr id="3" name="AutoShape 3">
            <a:extLst>
              <a:ext uri="{FF2B5EF4-FFF2-40B4-BE49-F238E27FC236}">
                <a16:creationId xmlns:a16="http://schemas.microsoft.com/office/drawing/2014/main" id="{EFF12733-4589-7930-9B90-DA0058222629}"/>
              </a:ext>
            </a:extLst>
          </p:cNvPr>
          <p:cNvSpPr/>
          <p:nvPr/>
        </p:nvSpPr>
        <p:spPr>
          <a:xfrm>
            <a:off x="335516" y="195283"/>
            <a:ext cx="8890000" cy="812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4400" dirty="0">
                <a:solidFill>
                  <a:srgbClr val="FFFFFF"/>
                </a:solidFill>
                <a:latin typeface="方正粗黑宋简体" panose="02000000000000000000" pitchFamily="2" charset="-122"/>
                <a:ea typeface="方正粗黑宋简体" panose="02000000000000000000" pitchFamily="2" charset="-122"/>
                <a:cs typeface="Poppins"/>
                <a:sym typeface="Poppins"/>
              </a:rPr>
              <a:t>作品部分功能展示</a:t>
            </a:r>
            <a:endParaRPr lang="en-US" sz="4400" dirty="0">
              <a:solidFill>
                <a:srgbClr val="FFFFFF"/>
              </a:solidFill>
              <a:latin typeface="方正粗黑宋简体" panose="02000000000000000000" pitchFamily="2" charset="-122"/>
              <a:ea typeface="方正粗黑宋简体" panose="02000000000000000000" pitchFamily="2" charset="-122"/>
              <a:cs typeface="Poppins"/>
            </a:endParaRPr>
          </a:p>
        </p:txBody>
      </p:sp>
      <p:cxnSp>
        <p:nvCxnSpPr>
          <p:cNvPr id="4" name="Connector 4">
            <a:extLst>
              <a:ext uri="{FF2B5EF4-FFF2-40B4-BE49-F238E27FC236}">
                <a16:creationId xmlns:a16="http://schemas.microsoft.com/office/drawing/2014/main" id="{591F4CD4-979C-C57A-F34C-4B15D6012DD0}"/>
              </a:ext>
            </a:extLst>
          </p:cNvPr>
          <p:cNvCxnSpPr/>
          <p:nvPr/>
        </p:nvCxnSpPr>
        <p:spPr>
          <a:xfrm rot="-4297">
            <a:off x="831706" y="1123949"/>
            <a:ext cx="10160000" cy="12700"/>
          </a:xfrm>
          <a:prstGeom prst="straightConnector1">
            <a:avLst/>
          </a:prstGeom>
          <a:solidFill>
            <a:srgbClr val="DEE0E3">
              <a:alpha val="100000"/>
            </a:srgbClr>
          </a:solidFill>
          <a:ln w="12700" cap="flat" cmpd="sng">
            <a:solidFill>
              <a:srgbClr val="00FFFF">
                <a:alpha val="50000"/>
              </a:srgbClr>
            </a:solidFill>
            <a:prstDash val="solid"/>
            <a:round/>
            <a:headEnd type="none" w="med" len="med"/>
            <a:tailEnd type="none" w="med" len="med"/>
          </a:ln>
        </p:spPr>
      </p:cxnSp>
      <p:pic>
        <p:nvPicPr>
          <p:cNvPr id="6" name="图片 5" descr="图形用户界面, 应用程序&#10;&#10;AI 生成的内容可能不正确。">
            <a:extLst>
              <a:ext uri="{FF2B5EF4-FFF2-40B4-BE49-F238E27FC236}">
                <a16:creationId xmlns:a16="http://schemas.microsoft.com/office/drawing/2014/main" id="{FCA29343-7334-57EC-B687-54EFF772E0FC}"/>
              </a:ext>
            </a:extLst>
          </p:cNvPr>
          <p:cNvPicPr>
            <a:picLocks noChangeAspect="1"/>
          </p:cNvPicPr>
          <p:nvPr/>
        </p:nvPicPr>
        <p:blipFill>
          <a:blip r:embed="rId4"/>
          <a:stretch>
            <a:fillRect/>
          </a:stretch>
        </p:blipFill>
        <p:spPr>
          <a:xfrm>
            <a:off x="225650" y="1326385"/>
            <a:ext cx="11372111" cy="5336332"/>
          </a:xfrm>
          <a:prstGeom prst="rect">
            <a:avLst/>
          </a:prstGeom>
          <a:ln>
            <a:noFill/>
          </a:ln>
          <a:effectLst>
            <a:softEdge rad="112500"/>
          </a:effectLst>
        </p:spPr>
      </p:pic>
    </p:spTree>
    <p:extLst>
      <p:ext uri="{BB962C8B-B14F-4D97-AF65-F5344CB8AC3E}">
        <p14:creationId xmlns:p14="http://schemas.microsoft.com/office/powerpoint/2010/main" val="4466802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A0A14">
            <a:alpha val="100000"/>
          </a:srgbClr>
        </a:solidFill>
        <a:effectLst/>
      </p:bgPr>
    </p:bg>
    <p:spTree>
      <p:nvGrpSpPr>
        <p:cNvPr id="1" name="">
          <a:extLst>
            <a:ext uri="{FF2B5EF4-FFF2-40B4-BE49-F238E27FC236}">
              <a16:creationId xmlns:a16="http://schemas.microsoft.com/office/drawing/2014/main" id="{D0453AA7-3921-5465-F9E0-976B791AD68D}"/>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47492AAB-135D-A011-092B-E93EBC00EFE9}"/>
              </a:ext>
            </a:extLst>
          </p:cNvPr>
          <p:cNvPicPr>
            <a:picLocks noChangeAspect="1"/>
          </p:cNvPicPr>
          <p:nvPr/>
        </p:nvPicPr>
        <p:blipFill>
          <a:blip r:embed="rId3">
            <a:alphaModFix amt="15000"/>
          </a:blip>
          <a:srcRect t="21875" b="21875"/>
          <a:stretch>
            <a:fillRect/>
          </a:stretch>
        </p:blipFill>
        <p:spPr>
          <a:xfrm>
            <a:off x="0" y="0"/>
            <a:ext cx="12192000" cy="6858000"/>
          </a:xfrm>
          <a:prstGeom prst="rect">
            <a:avLst/>
          </a:prstGeom>
          <a:noFill/>
          <a:ln w="25400" cap="flat" cmpd="sng">
            <a:noFill/>
            <a:prstDash val="solid"/>
            <a:round/>
          </a:ln>
        </p:spPr>
      </p:pic>
      <p:sp>
        <p:nvSpPr>
          <p:cNvPr id="3" name="AutoShape 3">
            <a:extLst>
              <a:ext uri="{FF2B5EF4-FFF2-40B4-BE49-F238E27FC236}">
                <a16:creationId xmlns:a16="http://schemas.microsoft.com/office/drawing/2014/main" id="{C5C15B3C-A812-00A8-1279-6CDCBFED8D7F}"/>
              </a:ext>
            </a:extLst>
          </p:cNvPr>
          <p:cNvSpPr/>
          <p:nvPr/>
        </p:nvSpPr>
        <p:spPr>
          <a:xfrm>
            <a:off x="335516" y="195283"/>
            <a:ext cx="8890000" cy="812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4400" dirty="0">
                <a:solidFill>
                  <a:srgbClr val="FFFFFF"/>
                </a:solidFill>
                <a:latin typeface="方正粗黑宋简体" panose="02000000000000000000" pitchFamily="2" charset="-122"/>
                <a:ea typeface="方正粗黑宋简体" panose="02000000000000000000" pitchFamily="2" charset="-122"/>
                <a:cs typeface="Poppins"/>
                <a:sym typeface="Poppins"/>
              </a:rPr>
              <a:t>作品部分功能展示</a:t>
            </a:r>
            <a:endParaRPr lang="en-US" sz="4400" dirty="0">
              <a:solidFill>
                <a:srgbClr val="FFFFFF"/>
              </a:solidFill>
              <a:latin typeface="方正粗黑宋简体" panose="02000000000000000000" pitchFamily="2" charset="-122"/>
              <a:ea typeface="方正粗黑宋简体" panose="02000000000000000000" pitchFamily="2" charset="-122"/>
              <a:cs typeface="Poppins"/>
            </a:endParaRPr>
          </a:p>
        </p:txBody>
      </p:sp>
      <p:cxnSp>
        <p:nvCxnSpPr>
          <p:cNvPr id="4" name="Connector 4">
            <a:extLst>
              <a:ext uri="{FF2B5EF4-FFF2-40B4-BE49-F238E27FC236}">
                <a16:creationId xmlns:a16="http://schemas.microsoft.com/office/drawing/2014/main" id="{8E81B480-82B6-5E43-45D7-8728276D8154}"/>
              </a:ext>
            </a:extLst>
          </p:cNvPr>
          <p:cNvCxnSpPr/>
          <p:nvPr/>
        </p:nvCxnSpPr>
        <p:spPr>
          <a:xfrm rot="-4297">
            <a:off x="831706" y="1123949"/>
            <a:ext cx="10160000" cy="12700"/>
          </a:xfrm>
          <a:prstGeom prst="straightConnector1">
            <a:avLst/>
          </a:prstGeom>
          <a:solidFill>
            <a:srgbClr val="DEE0E3">
              <a:alpha val="100000"/>
            </a:srgbClr>
          </a:solidFill>
          <a:ln w="12700" cap="flat" cmpd="sng">
            <a:solidFill>
              <a:srgbClr val="00FFFF">
                <a:alpha val="50000"/>
              </a:srgbClr>
            </a:solidFill>
            <a:prstDash val="solid"/>
            <a:round/>
            <a:headEnd type="none" w="med" len="med"/>
            <a:tailEnd type="none" w="med" len="med"/>
          </a:ln>
        </p:spPr>
      </p:cxnSp>
      <p:pic>
        <p:nvPicPr>
          <p:cNvPr id="6" name="图片 5" descr="图形用户界面, 文本, 应用程序, 信件, 电子邮件&#10;&#10;AI 生成的内容可能不正确。">
            <a:extLst>
              <a:ext uri="{FF2B5EF4-FFF2-40B4-BE49-F238E27FC236}">
                <a16:creationId xmlns:a16="http://schemas.microsoft.com/office/drawing/2014/main" id="{B185E931-DC5A-27E1-E202-A1288A6455F1}"/>
              </a:ext>
            </a:extLst>
          </p:cNvPr>
          <p:cNvPicPr>
            <a:picLocks noChangeAspect="1"/>
          </p:cNvPicPr>
          <p:nvPr/>
        </p:nvPicPr>
        <p:blipFill>
          <a:blip r:embed="rId4"/>
          <a:stretch>
            <a:fillRect/>
          </a:stretch>
        </p:blipFill>
        <p:spPr>
          <a:xfrm>
            <a:off x="229191" y="1458473"/>
            <a:ext cx="6256669" cy="4521202"/>
          </a:xfrm>
          <a:prstGeom prst="rect">
            <a:avLst/>
          </a:prstGeom>
          <a:ln w="228600" cap="sq" cmpd="thickThin">
            <a:solidFill>
              <a:srgbClr val="000000"/>
            </a:solidFill>
            <a:prstDash val="solid"/>
            <a:miter lim="800000"/>
          </a:ln>
          <a:effectLst>
            <a:innerShdw blurRad="76200">
              <a:srgbClr val="000000"/>
            </a:innerShdw>
          </a:effectLst>
        </p:spPr>
      </p:pic>
      <p:pic>
        <p:nvPicPr>
          <p:cNvPr id="8" name="图片 7" descr="表格&#10;&#10;AI 生成的内容可能不正确。">
            <a:extLst>
              <a:ext uri="{FF2B5EF4-FFF2-40B4-BE49-F238E27FC236}">
                <a16:creationId xmlns:a16="http://schemas.microsoft.com/office/drawing/2014/main" id="{4F7EEDEF-A436-B9C7-02A4-0575D9E1F387}"/>
              </a:ext>
            </a:extLst>
          </p:cNvPr>
          <p:cNvPicPr>
            <a:picLocks noChangeAspect="1"/>
          </p:cNvPicPr>
          <p:nvPr/>
        </p:nvPicPr>
        <p:blipFill>
          <a:blip r:embed="rId5"/>
          <a:stretch>
            <a:fillRect/>
          </a:stretch>
        </p:blipFill>
        <p:spPr>
          <a:xfrm>
            <a:off x="6607371" y="1458473"/>
            <a:ext cx="5463118" cy="4521202"/>
          </a:xfrm>
          <a:prstGeom prst="rect">
            <a:avLst/>
          </a:prstGeom>
          <a:ln w="2286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030393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A0A14">
            <a:alpha val="100000"/>
          </a:srgbClr>
        </a:solidFill>
        <a:effectLst/>
      </p:bgPr>
    </p:bg>
    <p:spTree>
      <p:nvGrpSpPr>
        <p:cNvPr id="1" name="">
          <a:extLst>
            <a:ext uri="{FF2B5EF4-FFF2-40B4-BE49-F238E27FC236}">
              <a16:creationId xmlns:a16="http://schemas.microsoft.com/office/drawing/2014/main" id="{53E554CA-C22A-7D4D-ABF2-44478489A464}"/>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1F3CE274-F2E1-6B46-EBF4-A862A538D704}"/>
              </a:ext>
            </a:extLst>
          </p:cNvPr>
          <p:cNvPicPr>
            <a:picLocks noChangeAspect="1"/>
          </p:cNvPicPr>
          <p:nvPr/>
        </p:nvPicPr>
        <p:blipFill>
          <a:blip r:embed="rId3">
            <a:alphaModFix amt="15000"/>
          </a:blip>
          <a:srcRect t="21875" b="21875"/>
          <a:stretch>
            <a:fillRect/>
          </a:stretch>
        </p:blipFill>
        <p:spPr>
          <a:xfrm>
            <a:off x="0" y="0"/>
            <a:ext cx="12192000" cy="6858000"/>
          </a:xfrm>
          <a:prstGeom prst="rect">
            <a:avLst/>
          </a:prstGeom>
          <a:noFill/>
          <a:ln w="25400" cap="flat" cmpd="sng">
            <a:noFill/>
            <a:prstDash val="solid"/>
            <a:round/>
          </a:ln>
        </p:spPr>
      </p:pic>
      <p:sp>
        <p:nvSpPr>
          <p:cNvPr id="3" name="AutoShape 3">
            <a:extLst>
              <a:ext uri="{FF2B5EF4-FFF2-40B4-BE49-F238E27FC236}">
                <a16:creationId xmlns:a16="http://schemas.microsoft.com/office/drawing/2014/main" id="{D3926588-E2B3-27D2-9815-277C62A25DE5}"/>
              </a:ext>
            </a:extLst>
          </p:cNvPr>
          <p:cNvSpPr/>
          <p:nvPr/>
        </p:nvSpPr>
        <p:spPr>
          <a:xfrm>
            <a:off x="335516" y="195283"/>
            <a:ext cx="8890000" cy="812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4400" dirty="0">
                <a:solidFill>
                  <a:srgbClr val="FFFFFF"/>
                </a:solidFill>
                <a:latin typeface="方正粗黑宋简体" panose="02000000000000000000" pitchFamily="2" charset="-122"/>
                <a:ea typeface="方正粗黑宋简体" panose="02000000000000000000" pitchFamily="2" charset="-122"/>
                <a:cs typeface="Poppins"/>
                <a:sym typeface="Poppins"/>
              </a:rPr>
              <a:t>作品部分功能展示</a:t>
            </a:r>
            <a:endParaRPr lang="en-US" sz="4400" dirty="0">
              <a:solidFill>
                <a:srgbClr val="FFFFFF"/>
              </a:solidFill>
              <a:latin typeface="方正粗黑宋简体" panose="02000000000000000000" pitchFamily="2" charset="-122"/>
              <a:ea typeface="方正粗黑宋简体" panose="02000000000000000000" pitchFamily="2" charset="-122"/>
              <a:cs typeface="Poppins"/>
            </a:endParaRPr>
          </a:p>
        </p:txBody>
      </p:sp>
      <p:cxnSp>
        <p:nvCxnSpPr>
          <p:cNvPr id="4" name="Connector 4">
            <a:extLst>
              <a:ext uri="{FF2B5EF4-FFF2-40B4-BE49-F238E27FC236}">
                <a16:creationId xmlns:a16="http://schemas.microsoft.com/office/drawing/2014/main" id="{D9C1D8B8-560A-4923-20B2-7BCB5F76D5B5}"/>
              </a:ext>
            </a:extLst>
          </p:cNvPr>
          <p:cNvCxnSpPr/>
          <p:nvPr/>
        </p:nvCxnSpPr>
        <p:spPr>
          <a:xfrm rot="-4297">
            <a:off x="831706" y="1123949"/>
            <a:ext cx="10160000" cy="12700"/>
          </a:xfrm>
          <a:prstGeom prst="straightConnector1">
            <a:avLst/>
          </a:prstGeom>
          <a:solidFill>
            <a:srgbClr val="DEE0E3">
              <a:alpha val="100000"/>
            </a:srgbClr>
          </a:solidFill>
          <a:ln w="12700" cap="flat" cmpd="sng">
            <a:solidFill>
              <a:srgbClr val="00FFFF">
                <a:alpha val="50000"/>
              </a:srgbClr>
            </a:solidFill>
            <a:prstDash val="solid"/>
            <a:round/>
            <a:headEnd type="none" w="med" len="med"/>
            <a:tailEnd type="none" w="med" len="med"/>
          </a:ln>
        </p:spPr>
      </p:cxnSp>
      <p:pic>
        <p:nvPicPr>
          <p:cNvPr id="6" name="图片 5" descr="图形用户界面, 文本, 应用程序, 聊天或短信&#10;&#10;AI 生成的内容可能不正确。">
            <a:extLst>
              <a:ext uri="{FF2B5EF4-FFF2-40B4-BE49-F238E27FC236}">
                <a16:creationId xmlns:a16="http://schemas.microsoft.com/office/drawing/2014/main" id="{1FCBFEA6-04DC-2069-90CB-D91198F0C841}"/>
              </a:ext>
            </a:extLst>
          </p:cNvPr>
          <p:cNvPicPr>
            <a:picLocks noChangeAspect="1"/>
          </p:cNvPicPr>
          <p:nvPr/>
        </p:nvPicPr>
        <p:blipFill>
          <a:blip r:embed="rId4"/>
          <a:stretch>
            <a:fillRect/>
          </a:stretch>
        </p:blipFill>
        <p:spPr>
          <a:xfrm>
            <a:off x="276446" y="1403916"/>
            <a:ext cx="5955224" cy="492333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8" name="图片 7" descr="图形用户界面, 文本, 应用程序, 电子邮件&#10;&#10;AI 生成的内容可能不正确。">
            <a:extLst>
              <a:ext uri="{FF2B5EF4-FFF2-40B4-BE49-F238E27FC236}">
                <a16:creationId xmlns:a16="http://schemas.microsoft.com/office/drawing/2014/main" id="{962FD0FA-24BF-23C4-E316-DE60F873126B}"/>
              </a:ext>
            </a:extLst>
          </p:cNvPr>
          <p:cNvPicPr>
            <a:picLocks noChangeAspect="1"/>
          </p:cNvPicPr>
          <p:nvPr/>
        </p:nvPicPr>
        <p:blipFill>
          <a:blip r:embed="rId5"/>
          <a:stretch>
            <a:fillRect/>
          </a:stretch>
        </p:blipFill>
        <p:spPr>
          <a:xfrm>
            <a:off x="6871770" y="1381733"/>
            <a:ext cx="4468847" cy="497091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6725495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A0A14">
            <a:alpha val="100000"/>
          </a:srgbClr>
        </a:solidFill>
        <a:effectLst/>
      </p:bgPr>
    </p:bg>
    <p:spTree>
      <p:nvGrpSpPr>
        <p:cNvPr id="1" name="">
          <a:extLst>
            <a:ext uri="{FF2B5EF4-FFF2-40B4-BE49-F238E27FC236}">
              <a16:creationId xmlns:a16="http://schemas.microsoft.com/office/drawing/2014/main" id="{D7859855-1EAE-A72D-EC10-DA809172ACEC}"/>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5C47C995-3178-AEAF-1072-72F356C45169}"/>
              </a:ext>
            </a:extLst>
          </p:cNvPr>
          <p:cNvPicPr>
            <a:picLocks noChangeAspect="1"/>
          </p:cNvPicPr>
          <p:nvPr/>
        </p:nvPicPr>
        <p:blipFill>
          <a:blip r:embed="rId3">
            <a:alphaModFix amt="15000"/>
          </a:blip>
          <a:srcRect t="21875" b="21875"/>
          <a:stretch>
            <a:fillRect/>
          </a:stretch>
        </p:blipFill>
        <p:spPr>
          <a:xfrm>
            <a:off x="0" y="0"/>
            <a:ext cx="12192000" cy="6858000"/>
          </a:xfrm>
          <a:prstGeom prst="rect">
            <a:avLst/>
          </a:prstGeom>
          <a:noFill/>
          <a:ln w="25400" cap="flat" cmpd="sng">
            <a:noFill/>
            <a:prstDash val="solid"/>
            <a:round/>
          </a:ln>
        </p:spPr>
      </p:pic>
      <p:sp>
        <p:nvSpPr>
          <p:cNvPr id="3" name="AutoShape 3">
            <a:extLst>
              <a:ext uri="{FF2B5EF4-FFF2-40B4-BE49-F238E27FC236}">
                <a16:creationId xmlns:a16="http://schemas.microsoft.com/office/drawing/2014/main" id="{8DB89F1C-3FF7-7F88-B38D-38F32EB2A1E7}"/>
              </a:ext>
            </a:extLst>
          </p:cNvPr>
          <p:cNvSpPr/>
          <p:nvPr/>
        </p:nvSpPr>
        <p:spPr>
          <a:xfrm>
            <a:off x="335516" y="195283"/>
            <a:ext cx="8890000" cy="812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4400" dirty="0">
                <a:solidFill>
                  <a:srgbClr val="FFFFFF"/>
                </a:solidFill>
                <a:latin typeface="方正粗黑宋简体" panose="02000000000000000000" pitchFamily="2" charset="-122"/>
                <a:ea typeface="方正粗黑宋简体" panose="02000000000000000000" pitchFamily="2" charset="-122"/>
                <a:cs typeface="Poppins"/>
                <a:sym typeface="Poppins"/>
              </a:rPr>
              <a:t>作品部分功能展示</a:t>
            </a:r>
            <a:endParaRPr lang="en-US" sz="4400" dirty="0">
              <a:solidFill>
                <a:srgbClr val="FFFFFF"/>
              </a:solidFill>
              <a:latin typeface="方正粗黑宋简体" panose="02000000000000000000" pitchFamily="2" charset="-122"/>
              <a:ea typeface="方正粗黑宋简体" panose="02000000000000000000" pitchFamily="2" charset="-122"/>
              <a:cs typeface="Poppins"/>
            </a:endParaRPr>
          </a:p>
        </p:txBody>
      </p:sp>
      <p:cxnSp>
        <p:nvCxnSpPr>
          <p:cNvPr id="4" name="Connector 4">
            <a:extLst>
              <a:ext uri="{FF2B5EF4-FFF2-40B4-BE49-F238E27FC236}">
                <a16:creationId xmlns:a16="http://schemas.microsoft.com/office/drawing/2014/main" id="{061C9507-7441-E2E1-E73D-9AEBDD9B0F7D}"/>
              </a:ext>
            </a:extLst>
          </p:cNvPr>
          <p:cNvCxnSpPr/>
          <p:nvPr/>
        </p:nvCxnSpPr>
        <p:spPr>
          <a:xfrm rot="-4297">
            <a:off x="831706" y="1123949"/>
            <a:ext cx="10160000" cy="12700"/>
          </a:xfrm>
          <a:prstGeom prst="straightConnector1">
            <a:avLst/>
          </a:prstGeom>
          <a:solidFill>
            <a:srgbClr val="DEE0E3">
              <a:alpha val="100000"/>
            </a:srgbClr>
          </a:solidFill>
          <a:ln w="12700" cap="flat" cmpd="sng">
            <a:solidFill>
              <a:srgbClr val="00FFFF">
                <a:alpha val="50000"/>
              </a:srgbClr>
            </a:solidFill>
            <a:prstDash val="solid"/>
            <a:round/>
            <a:headEnd type="none" w="med" len="med"/>
            <a:tailEnd type="none" w="med" len="med"/>
          </a:ln>
        </p:spPr>
      </p:cxnSp>
      <p:pic>
        <p:nvPicPr>
          <p:cNvPr id="6" name="图片 5" descr="图表&#10;&#10;AI 生成的内容可能不正确。">
            <a:extLst>
              <a:ext uri="{FF2B5EF4-FFF2-40B4-BE49-F238E27FC236}">
                <a16:creationId xmlns:a16="http://schemas.microsoft.com/office/drawing/2014/main" id="{7C4226AE-8187-92C3-45E3-80D124312E75}"/>
              </a:ext>
            </a:extLst>
          </p:cNvPr>
          <p:cNvPicPr>
            <a:picLocks noChangeAspect="1"/>
          </p:cNvPicPr>
          <p:nvPr/>
        </p:nvPicPr>
        <p:blipFill>
          <a:blip r:embed="rId4"/>
          <a:stretch>
            <a:fillRect/>
          </a:stretch>
        </p:blipFill>
        <p:spPr>
          <a:xfrm>
            <a:off x="230178" y="1735798"/>
            <a:ext cx="5865822" cy="412636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8" name="图片 7" descr="图表, 气泡图&#10;&#10;AI 生成的内容可能不正确。">
            <a:extLst>
              <a:ext uri="{FF2B5EF4-FFF2-40B4-BE49-F238E27FC236}">
                <a16:creationId xmlns:a16="http://schemas.microsoft.com/office/drawing/2014/main" id="{3F565FF6-4A39-4FB0-6FD5-23D61290D031}"/>
              </a:ext>
            </a:extLst>
          </p:cNvPr>
          <p:cNvPicPr>
            <a:picLocks noChangeAspect="1"/>
          </p:cNvPicPr>
          <p:nvPr/>
        </p:nvPicPr>
        <p:blipFill>
          <a:blip r:embed="rId5"/>
          <a:stretch>
            <a:fillRect/>
          </a:stretch>
        </p:blipFill>
        <p:spPr>
          <a:xfrm>
            <a:off x="6414976" y="1735798"/>
            <a:ext cx="5397530" cy="412636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3418042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A0A14">
            <a:alpha val="100000"/>
          </a:srgbClr>
        </a:solidFill>
        <a:effectLst/>
      </p:bgPr>
    </p:bg>
    <p:spTree>
      <p:nvGrpSpPr>
        <p:cNvPr id="1" name=""/>
        <p:cNvGrpSpPr/>
        <p:nvPr/>
      </p:nvGrpSpPr>
      <p:grpSpPr>
        <a:xfrm>
          <a:off x="0" y="0"/>
          <a:ext cx="0" cy="0"/>
          <a:chOff x="0" y="0"/>
          <a:chExt cx="0" cy="0"/>
        </a:xfrm>
      </p:grpSpPr>
      <p:pic>
        <p:nvPicPr>
          <p:cNvPr id="10" name="Picture 2">
            <a:extLst>
              <a:ext uri="{FF2B5EF4-FFF2-40B4-BE49-F238E27FC236}">
                <a16:creationId xmlns:a16="http://schemas.microsoft.com/office/drawing/2014/main" id="{5D4C1933-E068-0EB7-6446-9E2B8C524D82}"/>
              </a:ext>
            </a:extLst>
          </p:cNvPr>
          <p:cNvPicPr>
            <a:picLocks noChangeAspect="1"/>
          </p:cNvPicPr>
          <p:nvPr/>
        </p:nvPicPr>
        <p:blipFill>
          <a:blip r:embed="rId3">
            <a:alphaModFix amt="20000"/>
            <a:extLst>
              <a:ext uri="{BEBA8EAE-BF5A-486C-A8C5-ECC9F3942E4B}">
                <a14:imgProps xmlns:a14="http://schemas.microsoft.com/office/drawing/2010/main">
                  <a14:imgLayer r:embed="rId4">
                    <a14:imgEffect>
                      <a14:sharpenSoften amount="13000"/>
                    </a14:imgEffect>
                    <a14:imgEffect>
                      <a14:colorTemperature colorTemp="5282"/>
                    </a14:imgEffect>
                    <a14:imgEffect>
                      <a14:saturation sat="266000"/>
                    </a14:imgEffect>
                    <a14:imgEffect>
                      <a14:brightnessContrast bright="41000" contrast="6000"/>
                    </a14:imgEffect>
                  </a14:imgLayer>
                </a14:imgProps>
              </a:ext>
            </a:extLst>
          </a:blip>
          <a:srcRect t="21875" b="21875"/>
          <a:stretch>
            <a:fillRect/>
          </a:stretch>
        </p:blipFill>
        <p:spPr>
          <a:xfrm>
            <a:off x="0" y="0"/>
            <a:ext cx="12192000" cy="6858000"/>
          </a:xfrm>
          <a:prstGeom prst="rect">
            <a:avLst/>
          </a:prstGeom>
          <a:noFill/>
          <a:ln w="25400" cap="flat" cmpd="sng">
            <a:noFill/>
            <a:prstDash val="solid"/>
            <a:round/>
          </a:ln>
        </p:spPr>
      </p:pic>
      <p:pic>
        <p:nvPicPr>
          <p:cNvPr id="2" name="Picture 2"/>
          <p:cNvPicPr>
            <a:picLocks noChangeAspect="1"/>
          </p:cNvPicPr>
          <p:nvPr/>
        </p:nvPicPr>
        <p:blipFill>
          <a:blip r:embed="rId5">
            <a:alphaModFix amt="40000"/>
          </a:blip>
          <a:srcRect t="21875" b="21875"/>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7620" y="0"/>
            <a:ext cx="12192000" cy="6858000"/>
          </a:xfrm>
          <a:prstGeom prst="roundRect">
            <a:avLst>
              <a:gd name="adj" fmla="val 0"/>
            </a:avLst>
          </a:prstGeom>
          <a:solidFill>
            <a:srgbClr val="000000">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1016000" y="1270000"/>
            <a:ext cx="10160000" cy="1270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8000" b="1" i="0" u="none" strike="noStrike">
                <a:solidFill>
                  <a:srgbClr val="00FFFF"/>
                </a:solidFill>
                <a:latin typeface="Poppins"/>
                <a:ea typeface="Poppins"/>
                <a:cs typeface="Poppins"/>
                <a:sym typeface="Poppins"/>
              </a:rPr>
              <a:t>THANK YOU</a:t>
            </a:r>
            <a:endParaRPr lang="en-US" sz="1100"/>
          </a:p>
        </p:txBody>
      </p:sp>
      <p:sp>
        <p:nvSpPr>
          <p:cNvPr id="5" name="AutoShape 5"/>
          <p:cNvSpPr/>
          <p:nvPr/>
        </p:nvSpPr>
        <p:spPr>
          <a:xfrm>
            <a:off x="5334000" y="2794000"/>
            <a:ext cx="1524000" cy="50800"/>
          </a:xfrm>
          <a:prstGeom prst="roundRect">
            <a:avLst>
              <a:gd name="adj" fmla="val 0"/>
            </a:avLst>
          </a:prstGeom>
          <a:solidFill>
            <a:srgbClr val="00FFFF">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6" name="AutoShape 6"/>
          <p:cNvSpPr/>
          <p:nvPr/>
        </p:nvSpPr>
        <p:spPr>
          <a:xfrm>
            <a:off x="1651000" y="3175000"/>
            <a:ext cx="889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0" i="0" u="none" strike="noStrike">
                <a:solidFill>
                  <a:srgbClr val="FFFFFF"/>
                </a:solidFill>
                <a:latin typeface="Noto Sans SC"/>
                <a:ea typeface="Noto Sans SC"/>
                <a:cs typeface="Noto Sans SC"/>
                <a:sym typeface="Noto Sans SC"/>
              </a:rPr>
              <a:t>期待与您共同建设开源社区</a:t>
            </a:r>
            <a:endParaRPr lang="en-US" sz="1100"/>
          </a:p>
        </p:txBody>
      </p:sp>
      <p:cxnSp>
        <p:nvCxnSpPr>
          <p:cNvPr id="7" name="Connector 7"/>
          <p:cNvCxnSpPr/>
          <p:nvPr/>
        </p:nvCxnSpPr>
        <p:spPr>
          <a:xfrm rot="-6875">
            <a:off x="2921006" y="4057650"/>
            <a:ext cx="6350000" cy="12700"/>
          </a:xfrm>
          <a:prstGeom prst="straightConnector1">
            <a:avLst/>
          </a:prstGeom>
          <a:solidFill>
            <a:srgbClr val="DEE0E3">
              <a:alpha val="100000"/>
            </a:srgbClr>
          </a:solidFill>
          <a:ln w="12700" cap="flat" cmpd="sng">
            <a:solidFill>
              <a:srgbClr val="00FFFF">
                <a:alpha val="30000"/>
              </a:srgbClr>
            </a:solidFill>
            <a:prstDash val="dash"/>
            <a:round/>
            <a:headEnd type="none" w="med" len="med"/>
            <a:tailEnd type="none" w="med" len="med"/>
          </a:ln>
        </p:spPr>
      </p:cxnSp>
      <p:pic>
        <p:nvPicPr>
          <p:cNvPr id="8" name="Picture 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382520" y="4315460"/>
            <a:ext cx="304800" cy="304800"/>
          </a:xfrm>
          <a:prstGeom prst="rect">
            <a:avLst/>
          </a:prstGeom>
        </p:spPr>
      </p:pic>
      <p:sp>
        <p:nvSpPr>
          <p:cNvPr id="9" name="AutoShape 9"/>
          <p:cNvSpPr/>
          <p:nvPr/>
        </p:nvSpPr>
        <p:spPr>
          <a:xfrm>
            <a:off x="1122680" y="4300220"/>
            <a:ext cx="10474960" cy="32766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dirty="0" err="1">
                <a:solidFill>
                  <a:srgbClr val="E5E7EB"/>
                </a:solidFill>
                <a:latin typeface="Noto Sans SC"/>
                <a:ea typeface="Noto Sans SC"/>
                <a:cs typeface="Noto Sans SC"/>
                <a:sym typeface="Noto Sans SC"/>
              </a:rPr>
              <a:t>项目开源地址</a:t>
            </a:r>
            <a:r>
              <a:rPr lang="en-US" sz="1600" b="0" i="0" u="none" strike="noStrike" dirty="0">
                <a:solidFill>
                  <a:srgbClr val="E5E7EB"/>
                </a:solidFill>
                <a:latin typeface="Noto Sans SC"/>
                <a:ea typeface="Noto Sans SC"/>
                <a:cs typeface="Noto Sans SC"/>
                <a:sym typeface="Noto Sans SC"/>
              </a:rPr>
              <a:t> </a:t>
            </a:r>
            <a:r>
              <a:rPr lang="en-US" sz="1600" dirty="0">
                <a:solidFill>
                  <a:srgbClr val="E5E7EB"/>
                </a:solidFill>
                <a:latin typeface="Noto Sans SC"/>
                <a:ea typeface="Noto Sans SC"/>
                <a:cs typeface="Noto Sans SC"/>
                <a:sym typeface="Noto Sans SC"/>
              </a:rPr>
              <a:t>: https://github.com/Richard3533/openrank2025.git</a:t>
            </a:r>
            <a:endParaRPr lang="en-US" sz="1100" dirty="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325</TotalTime>
  <Words>1130</Words>
  <Application>Microsoft Office PowerPoint</Application>
  <PresentationFormat>宽屏</PresentationFormat>
  <Paragraphs>176</Paragraphs>
  <Slides>18</Slides>
  <Notes>18</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18</vt:i4>
      </vt:variant>
    </vt:vector>
  </HeadingPairs>
  <TitlesOfParts>
    <vt:vector size="26" baseType="lpstr">
      <vt:lpstr>Noto Sans SC</vt:lpstr>
      <vt:lpstr>方正粗黑宋简体</vt:lpstr>
      <vt:lpstr>方正正大黑简体</vt:lpstr>
      <vt:lpstr>Arial</vt:lpstr>
      <vt:lpstr>Poppins</vt:lpstr>
      <vt:lpstr>Roboto</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yuyue rong</dc:creator>
  <cp:lastModifiedBy>y Richard</cp:lastModifiedBy>
  <cp:revision>10</cp:revision>
  <dcterms:modified xsi:type="dcterms:W3CDTF">2025-12-31T12:30:51Z</dcterms:modified>
</cp:coreProperties>
</file>